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8" r:id="rId6"/>
    <p:sldId id="262" r:id="rId7"/>
    <p:sldId id="266" r:id="rId8"/>
    <p:sldId id="269" r:id="rId9"/>
    <p:sldId id="270" r:id="rId10"/>
    <p:sldId id="271" r:id="rId11"/>
    <p:sldId id="272" r:id="rId12"/>
    <p:sldId id="273" r:id="rId13"/>
    <p:sldId id="267" r:id="rId14"/>
    <p:sldId id="274" r:id="rId15"/>
    <p:sldId id="275" r:id="rId16"/>
    <p:sldId id="276" r:id="rId17"/>
    <p:sldId id="264" r:id="rId18"/>
  </p:sldIdLst>
  <p:sldSz cx="18288000" cy="10287000"/>
  <p:notesSz cx="6858000" cy="9144000"/>
  <p:embeddedFontLst>
    <p:embeddedFont>
      <p:font typeface="Aptos Bold" panose="020B0604020202020204" charset="0"/>
      <p:regular r:id="rId19"/>
    </p:embeddedFont>
    <p:embeddedFont>
      <p:font typeface="Calibri" panose="020F0502020204030204" pitchFamily="34" charset="0"/>
      <p:regular r:id="rId20"/>
      <p:bold r:id="rId21"/>
      <p:italic r:id="rId22"/>
      <p:boldItalic r:id="rId23"/>
    </p:embeddedFont>
    <p:embeddedFont>
      <p:font typeface="Cambria" panose="02040503050406030204" pitchFamily="18" charset="0"/>
      <p:regular r:id="rId24"/>
      <p:bold r:id="rId25"/>
      <p:italic r:id="rId26"/>
      <p:boldItalic r:id="rId27"/>
    </p:embeddedFont>
    <p:embeddedFont>
      <p:font typeface="TT Phobos Bold" panose="020B0604020202020204" charset="0"/>
      <p:regular r:id="rId2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99" autoAdjust="0"/>
    <p:restoredTop sz="94622" autoAdjust="0"/>
  </p:normalViewPr>
  <p:slideViewPr>
    <p:cSldViewPr>
      <p:cViewPr>
        <p:scale>
          <a:sx n="41" d="100"/>
          <a:sy n="41" d="100"/>
        </p:scale>
        <p:origin x="840" y="4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font" Target="fonts/font10.fntdata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font" Target="fonts/font9.fntdata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2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499851" y="260894"/>
            <a:ext cx="1371600" cy="1498478"/>
            <a:chOff x="0" y="0"/>
            <a:chExt cx="1300480" cy="1420780"/>
          </a:xfrm>
        </p:grpSpPr>
        <p:sp>
          <p:nvSpPr>
            <p:cNvPr id="3" name="Freeform 3" descr="Dr Shivabasava swamiji.jpg"/>
            <p:cNvSpPr/>
            <p:nvPr/>
          </p:nvSpPr>
          <p:spPr>
            <a:xfrm>
              <a:off x="0" y="0"/>
              <a:ext cx="1300480" cy="1420830"/>
            </a:xfrm>
            <a:custGeom>
              <a:avLst/>
              <a:gdLst/>
              <a:ahLst/>
              <a:cxnLst/>
              <a:rect l="l" t="t" r="r" b="b"/>
              <a:pathLst>
                <a:path w="1300480" h="1420830">
                  <a:moveTo>
                    <a:pt x="0" y="0"/>
                  </a:moveTo>
                  <a:lnTo>
                    <a:pt x="1300480" y="0"/>
                  </a:lnTo>
                  <a:lnTo>
                    <a:pt x="1300480" y="1420830"/>
                  </a:lnTo>
                  <a:lnTo>
                    <a:pt x="0" y="14208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2215" b="-2211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4844257" y="176220"/>
            <a:ext cx="1227810" cy="1322255"/>
            <a:chOff x="0" y="0"/>
            <a:chExt cx="1164146" cy="1253693"/>
          </a:xfrm>
        </p:grpSpPr>
        <p:sp>
          <p:nvSpPr>
            <p:cNvPr id="5" name="Freeform 5" descr="sgbit logo.jpg"/>
            <p:cNvSpPr/>
            <p:nvPr/>
          </p:nvSpPr>
          <p:spPr>
            <a:xfrm>
              <a:off x="0" y="0"/>
              <a:ext cx="1164082" cy="1253744"/>
            </a:xfrm>
            <a:custGeom>
              <a:avLst/>
              <a:gdLst/>
              <a:ahLst/>
              <a:cxnLst/>
              <a:rect l="l" t="t" r="r" b="b"/>
              <a:pathLst>
                <a:path w="1164082" h="1253744">
                  <a:moveTo>
                    <a:pt x="0" y="0"/>
                  </a:moveTo>
                  <a:lnTo>
                    <a:pt x="1164082" y="0"/>
                  </a:lnTo>
                  <a:lnTo>
                    <a:pt x="1164082" y="1253744"/>
                  </a:lnTo>
                  <a:lnTo>
                    <a:pt x="0" y="12537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3846" r="-3851" b="4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3886204" y="0"/>
            <a:ext cx="10744201" cy="1553394"/>
            <a:chOff x="0" y="0"/>
            <a:chExt cx="10187094" cy="147284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0187094" cy="1235009"/>
            </a:xfrm>
            <a:custGeom>
              <a:avLst/>
              <a:gdLst/>
              <a:ahLst/>
              <a:cxnLst/>
              <a:rect l="l" t="t" r="r" b="b"/>
              <a:pathLst>
                <a:path w="10187094" h="1235009">
                  <a:moveTo>
                    <a:pt x="0" y="0"/>
                  </a:moveTo>
                  <a:lnTo>
                    <a:pt x="10187094" y="0"/>
                  </a:lnTo>
                  <a:lnTo>
                    <a:pt x="10187094" y="1235009"/>
                  </a:lnTo>
                  <a:lnTo>
                    <a:pt x="0" y="123500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10724" b="-110723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237844"/>
              <a:ext cx="10187089" cy="123500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329"/>
                </a:lnSpc>
              </a:pPr>
              <a:r>
                <a:rPr lang="en-US" sz="2774" b="1" spc="21" dirty="0">
                  <a:solidFill>
                    <a:srgbClr val="78206E"/>
                  </a:solidFill>
                  <a:latin typeface="TT Phobos Bold"/>
                  <a:ea typeface="TT Phobos Bold"/>
                  <a:cs typeface="TT Phobos Bold"/>
                  <a:sym typeface="TT Phobos Bold"/>
                </a:rPr>
                <a:t>SSET’s, </a:t>
              </a:r>
              <a:r>
                <a:rPr lang="en-US" sz="2774" b="1" spc="21" dirty="0" err="1">
                  <a:solidFill>
                    <a:srgbClr val="78206E"/>
                  </a:solidFill>
                  <a:latin typeface="TT Phobos Bold"/>
                  <a:ea typeface="TT Phobos Bold"/>
                  <a:cs typeface="TT Phobos Bold"/>
                  <a:sym typeface="TT Phobos Bold"/>
                </a:rPr>
                <a:t>S.G.Balekundri</a:t>
              </a:r>
              <a:r>
                <a:rPr lang="en-US" sz="2774" b="1" spc="21" dirty="0">
                  <a:solidFill>
                    <a:srgbClr val="78206E"/>
                  </a:solidFill>
                  <a:latin typeface="TT Phobos Bold"/>
                  <a:ea typeface="TT Phobos Bold"/>
                  <a:cs typeface="TT Phobos Bold"/>
                  <a:sym typeface="TT Phobos Bold"/>
                </a:rPr>
                <a:t> Institute of Technology, Belagavi, </a:t>
              </a:r>
            </a:p>
            <a:p>
              <a:pPr algn="ctr">
                <a:lnSpc>
                  <a:spcPts val="3329"/>
                </a:lnSpc>
              </a:pPr>
              <a:r>
                <a:rPr lang="en-US" sz="2774" b="1" spc="21" dirty="0">
                  <a:solidFill>
                    <a:srgbClr val="78206E"/>
                  </a:solidFill>
                  <a:latin typeface="TT Phobos Bold"/>
                  <a:ea typeface="TT Phobos Bold"/>
                  <a:cs typeface="TT Phobos Bold"/>
                  <a:sym typeface="TT Phobos Bold"/>
                </a:rPr>
                <a:t>Department of Computer Science &amp; Business Systems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3657600" y="1828796"/>
            <a:ext cx="10972800" cy="1142998"/>
            <a:chOff x="0" y="0"/>
            <a:chExt cx="10403840" cy="1083732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0403840" cy="1083735"/>
            </a:xfrm>
            <a:custGeom>
              <a:avLst/>
              <a:gdLst/>
              <a:ahLst/>
              <a:cxnLst/>
              <a:rect l="l" t="t" r="r" b="b"/>
              <a:pathLst>
                <a:path w="10403840" h="1083735">
                  <a:moveTo>
                    <a:pt x="0" y="0"/>
                  </a:moveTo>
                  <a:lnTo>
                    <a:pt x="10403840" y="0"/>
                  </a:lnTo>
                  <a:lnTo>
                    <a:pt x="10403840" y="1083735"/>
                  </a:lnTo>
                  <a:lnTo>
                    <a:pt x="0" y="108373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37056" b="-137055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47625"/>
              <a:ext cx="10403840" cy="1036107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ctr">
                <a:lnSpc>
                  <a:spcPts val="3887"/>
                </a:lnSpc>
              </a:pPr>
              <a:r>
                <a:rPr lang="en-US" sz="3599" b="1" spc="28">
                  <a:solidFill>
                    <a:srgbClr val="FF0000"/>
                  </a:solidFill>
                  <a:latin typeface="TT Phobos Bold"/>
                  <a:ea typeface="TT Phobos Bold"/>
                  <a:cs typeface="TT Phobos Bold"/>
                  <a:sym typeface="TT Phobos Bold"/>
                </a:rPr>
                <a:t> 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3314700" y="1498478"/>
            <a:ext cx="11721751" cy="1166033"/>
            <a:chOff x="0" y="0"/>
            <a:chExt cx="11113957" cy="1105573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1113957" cy="1105573"/>
            </a:xfrm>
            <a:custGeom>
              <a:avLst/>
              <a:gdLst/>
              <a:ahLst/>
              <a:cxnLst/>
              <a:rect l="l" t="t" r="r" b="b"/>
              <a:pathLst>
                <a:path w="11113957" h="1105573">
                  <a:moveTo>
                    <a:pt x="0" y="0"/>
                  </a:moveTo>
                  <a:lnTo>
                    <a:pt x="11113957" y="0"/>
                  </a:lnTo>
                  <a:lnTo>
                    <a:pt x="11113957" y="1105573"/>
                  </a:lnTo>
                  <a:lnTo>
                    <a:pt x="0" y="110557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34349" r="6389" b="-132373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47625"/>
              <a:ext cx="11113957" cy="1057946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ctr">
                <a:lnSpc>
                  <a:spcPts val="3887"/>
                </a:lnSpc>
              </a:pPr>
              <a:endParaRPr lang="en-US" sz="3599" b="1" spc="28" dirty="0">
                <a:solidFill>
                  <a:srgbClr val="FF0000"/>
                </a:solidFill>
                <a:latin typeface="TT Phobos Bold"/>
                <a:ea typeface="TT Phobos Bold"/>
                <a:cs typeface="TT Phobos Bold"/>
                <a:sym typeface="TT Phobos Bold"/>
              </a:endParaRP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792186" y="7429500"/>
            <a:ext cx="14279881" cy="2491658"/>
            <a:chOff x="0" y="0"/>
            <a:chExt cx="13004800" cy="2790609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3004800" cy="2790609"/>
            </a:xfrm>
            <a:custGeom>
              <a:avLst/>
              <a:gdLst/>
              <a:ahLst/>
              <a:cxnLst/>
              <a:rect l="l" t="t" r="r" b="b"/>
              <a:pathLst>
                <a:path w="13004800" h="2790609">
                  <a:moveTo>
                    <a:pt x="0" y="0"/>
                  </a:moveTo>
                  <a:lnTo>
                    <a:pt x="13004800" y="0"/>
                  </a:lnTo>
                  <a:lnTo>
                    <a:pt x="13004800" y="2790609"/>
                  </a:lnTo>
                  <a:lnTo>
                    <a:pt x="0" y="279060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40804" b="-40804"/>
              </a:stretch>
            </a:blipFill>
          </p:spPr>
          <p:txBody>
            <a:bodyPr/>
            <a:lstStyle/>
            <a:p>
              <a:endParaRPr lang="en-IN">
                <a:ln>
                  <a:solidFill>
                    <a:sysClr val="windowText" lastClr="000000"/>
                  </a:solidFill>
                </a:ln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38100"/>
              <a:ext cx="13004800" cy="2752509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marL="0" lvl="0" indent="0" algn="ctr">
                <a:lnSpc>
                  <a:spcPts val="2976"/>
                </a:lnSpc>
                <a:spcBef>
                  <a:spcPct val="0"/>
                </a:spcBef>
              </a:pPr>
              <a:r>
                <a:rPr lang="en-US" sz="2756" b="1" u="none" strike="noStrike" spc="21" dirty="0">
                  <a:solidFill>
                    <a:srgbClr val="002060"/>
                  </a:solidFill>
                  <a:latin typeface="TT Phobos Bold"/>
                  <a:ea typeface="TT Phobos Bold"/>
                  <a:cs typeface="TT Phobos Bold"/>
                  <a:sym typeface="TT Phobos Bold"/>
                </a:rPr>
                <a:t>Project Phase </a:t>
              </a:r>
              <a:r>
                <a:rPr lang="en-US" sz="2756" b="1" spc="21" dirty="0">
                  <a:solidFill>
                    <a:srgbClr val="002060"/>
                  </a:solidFill>
                  <a:latin typeface="TT Phobos Bold"/>
                  <a:ea typeface="TT Phobos Bold"/>
                  <a:cs typeface="TT Phobos Bold"/>
                  <a:sym typeface="TT Phobos Bold"/>
                </a:rPr>
                <a:t>II</a:t>
              </a:r>
              <a:r>
                <a:rPr lang="en-US" sz="2756" b="1" u="none" strike="noStrike" spc="21" dirty="0">
                  <a:solidFill>
                    <a:srgbClr val="002060"/>
                  </a:solidFill>
                  <a:latin typeface="TT Phobos Bold"/>
                  <a:ea typeface="TT Phobos Bold"/>
                  <a:cs typeface="TT Phobos Bold"/>
                  <a:sym typeface="TT Phobos Bold"/>
                </a:rPr>
                <a:t> (BCB786)</a:t>
              </a:r>
            </a:p>
            <a:p>
              <a:pPr marL="0" lvl="0" indent="0" algn="ctr">
                <a:lnSpc>
                  <a:spcPts val="2976"/>
                </a:lnSpc>
                <a:spcBef>
                  <a:spcPct val="0"/>
                </a:spcBef>
              </a:pPr>
              <a:r>
                <a:rPr lang="en-US" sz="2756" b="1" u="none" strike="noStrike" spc="21" dirty="0">
                  <a:solidFill>
                    <a:srgbClr val="002060"/>
                  </a:solidFill>
                  <a:latin typeface="TT Phobos Bold"/>
                  <a:ea typeface="TT Phobos Bold"/>
                  <a:cs typeface="TT Phobos Bold"/>
                  <a:sym typeface="TT Phobos Bold"/>
                </a:rPr>
                <a:t>VII Semester, </a:t>
              </a:r>
            </a:p>
            <a:p>
              <a:pPr marL="0" lvl="0" indent="0" algn="ctr">
                <a:lnSpc>
                  <a:spcPts val="2976"/>
                </a:lnSpc>
                <a:spcBef>
                  <a:spcPct val="0"/>
                </a:spcBef>
              </a:pPr>
              <a:r>
                <a:rPr lang="en-US" sz="2756" b="1" u="none" strike="noStrike" spc="21" dirty="0">
                  <a:solidFill>
                    <a:srgbClr val="002060"/>
                  </a:solidFill>
                  <a:latin typeface="TT Phobos Bold"/>
                  <a:ea typeface="TT Phobos Bold"/>
                  <a:cs typeface="TT Phobos Bold"/>
                  <a:sym typeface="TT Phobos Bold"/>
                </a:rPr>
                <a:t>Department of Computer Science &amp; Business Systems, </a:t>
              </a:r>
            </a:p>
            <a:p>
              <a:pPr algn="ctr">
                <a:lnSpc>
                  <a:spcPts val="2976"/>
                </a:lnSpc>
                <a:spcBef>
                  <a:spcPct val="0"/>
                </a:spcBef>
              </a:pPr>
              <a:r>
                <a:rPr lang="en-US" sz="2756" b="1" u="none" strike="noStrike" spc="21" dirty="0">
                  <a:solidFill>
                    <a:srgbClr val="002060"/>
                  </a:solidFill>
                  <a:latin typeface="TT Phobos Bold"/>
                  <a:ea typeface="TT Phobos Bold"/>
                  <a:cs typeface="TT Phobos Bold"/>
                  <a:sym typeface="TT Phobos Bold"/>
                </a:rPr>
                <a:t>S. G. </a:t>
              </a:r>
              <a:r>
                <a:rPr lang="en-US" sz="2756" b="1" u="none" strike="noStrike" spc="21" dirty="0" err="1">
                  <a:solidFill>
                    <a:srgbClr val="002060"/>
                  </a:solidFill>
                  <a:latin typeface="TT Phobos Bold"/>
                  <a:ea typeface="TT Phobos Bold"/>
                  <a:cs typeface="TT Phobos Bold"/>
                  <a:sym typeface="TT Phobos Bold"/>
                </a:rPr>
                <a:t>Balekundri</a:t>
              </a:r>
              <a:r>
                <a:rPr lang="en-US" sz="2756" b="1" u="none" strike="noStrike" spc="21" dirty="0">
                  <a:solidFill>
                    <a:srgbClr val="002060"/>
                  </a:solidFill>
                  <a:latin typeface="TT Phobos Bold"/>
                  <a:ea typeface="TT Phobos Bold"/>
                  <a:cs typeface="TT Phobos Bold"/>
                  <a:sym typeface="TT Phobos Bold"/>
                </a:rPr>
                <a:t> Institute of Technology, Belagavi</a:t>
              </a:r>
              <a:endParaRPr lang="en-US" sz="2800" b="1" spc="28" dirty="0">
                <a:solidFill>
                  <a:srgbClr val="FF0000"/>
                </a:solidFill>
                <a:latin typeface="TT Phobos Bold"/>
                <a:ea typeface="TT Phobos Bold"/>
                <a:cs typeface="TT Phobos Bold"/>
                <a:sym typeface="TT Phobos Bold"/>
              </a:endParaRPr>
            </a:p>
            <a:p>
              <a:pPr marL="0" lvl="0" indent="0" algn="ctr">
                <a:lnSpc>
                  <a:spcPts val="2976"/>
                </a:lnSpc>
                <a:spcBef>
                  <a:spcPct val="0"/>
                </a:spcBef>
              </a:pPr>
              <a:r>
                <a:rPr lang="en-US" sz="2756" b="1" u="none" strike="noStrike" spc="21" dirty="0">
                  <a:solidFill>
                    <a:srgbClr val="002060"/>
                  </a:solidFill>
                  <a:latin typeface="TT Phobos Bold"/>
                  <a:ea typeface="TT Phobos Bold"/>
                  <a:cs typeface="TT Phobos Bold"/>
                  <a:sym typeface="TT Phobos Bold"/>
                </a:rPr>
                <a:t> </a:t>
              </a:r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7541847" y="2984664"/>
            <a:ext cx="2780558" cy="5019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962"/>
              </a:lnSpc>
              <a:spcBef>
                <a:spcPct val="0"/>
              </a:spcBef>
            </a:pPr>
            <a:r>
              <a:rPr lang="en-US" sz="3302" b="1" dirty="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Group no: 2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3505200" y="3653422"/>
            <a:ext cx="10972800" cy="38779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3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rPr>
              <a:t>Rakesh Patil                            : 2BU23CB059</a:t>
            </a:r>
          </a:p>
          <a:p>
            <a:pPr algn="ctr"/>
            <a:r>
              <a:rPr lang="en-US" sz="3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rPr>
              <a:t>Pranav </a:t>
            </a:r>
            <a:r>
              <a:rPr lang="en-US" sz="360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rPr>
              <a:t>Murkibhavi</a:t>
            </a:r>
            <a:r>
              <a:rPr lang="en-US" sz="3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rPr>
              <a:t>               : 2BU23CB057</a:t>
            </a:r>
          </a:p>
          <a:p>
            <a:pPr algn="ctr"/>
            <a:r>
              <a:rPr lang="en-US" sz="3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rPr>
              <a:t>Manu </a:t>
            </a:r>
            <a:r>
              <a:rPr lang="en-US" sz="360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rPr>
              <a:t>Nandihalli</a:t>
            </a:r>
            <a:r>
              <a:rPr lang="en-US" sz="3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rPr>
              <a:t>                    : 2BU23CB047</a:t>
            </a:r>
          </a:p>
          <a:p>
            <a:pPr algn="ctr"/>
            <a:r>
              <a:rPr lang="en-US" sz="3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rPr>
              <a:t>Abhishek </a:t>
            </a:r>
            <a:r>
              <a:rPr lang="en-US" sz="360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rPr>
              <a:t>Mallgoudnavar</a:t>
            </a:r>
            <a:r>
              <a:rPr lang="en-US" sz="3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rPr>
              <a:t>    : 2BU23CB001</a:t>
            </a:r>
          </a:p>
          <a:p>
            <a:pPr algn="ctr"/>
            <a:endParaRPr lang="en-US" sz="36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ctr"/>
            <a:endParaRPr lang="en-US" sz="36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ctr"/>
            <a:r>
              <a:rPr lang="en-IN" sz="3600" b="1" dirty="0">
                <a:solidFill>
                  <a:srgbClr val="FF0000"/>
                </a:solidFill>
              </a:rPr>
              <a:t>Guide</a:t>
            </a:r>
            <a:r>
              <a:rPr lang="en-IN" sz="3600" dirty="0"/>
              <a:t> : Ms. </a:t>
            </a:r>
            <a:r>
              <a:rPr lang="en-IN" sz="3600" dirty="0" err="1"/>
              <a:t>Afziya</a:t>
            </a:r>
            <a:r>
              <a:rPr lang="en-IN" sz="3600" dirty="0"/>
              <a:t> </a:t>
            </a:r>
            <a:r>
              <a:rPr lang="en-IN" sz="3600" dirty="0" err="1"/>
              <a:t>Garag</a:t>
            </a:r>
            <a:endParaRPr lang="en-US" sz="36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67DB8DB-975E-EE04-AC20-EA2F15DE0E22}"/>
              </a:ext>
            </a:extLst>
          </p:cNvPr>
          <p:cNvSpPr txBox="1"/>
          <p:nvPr/>
        </p:nvSpPr>
        <p:spPr>
          <a:xfrm>
            <a:off x="5105400" y="1899666"/>
            <a:ext cx="9144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spc="28" dirty="0">
                <a:solidFill>
                  <a:srgbClr val="FF0000"/>
                </a:solidFill>
                <a:latin typeface="TT Phobos Bold"/>
                <a:ea typeface="TT Phobos Bold"/>
                <a:cs typeface="TT Phobos Bold"/>
                <a:sym typeface="TT Phobos Bold"/>
              </a:rPr>
              <a:t>Blockchain-Based Secure Medical Record System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095507" y="352332"/>
            <a:ext cx="1371600" cy="1498478"/>
            <a:chOff x="0" y="0"/>
            <a:chExt cx="1300480" cy="1420780"/>
          </a:xfrm>
        </p:grpSpPr>
        <p:sp>
          <p:nvSpPr>
            <p:cNvPr id="3" name="Freeform 3" descr="Dr Shivabasava swamiji.jpg"/>
            <p:cNvSpPr/>
            <p:nvPr/>
          </p:nvSpPr>
          <p:spPr>
            <a:xfrm>
              <a:off x="0" y="0"/>
              <a:ext cx="1300480" cy="1420830"/>
            </a:xfrm>
            <a:custGeom>
              <a:avLst/>
              <a:gdLst/>
              <a:ahLst/>
              <a:cxnLst/>
              <a:rect l="l" t="t" r="r" b="b"/>
              <a:pathLst>
                <a:path w="1300480" h="1420830">
                  <a:moveTo>
                    <a:pt x="0" y="0"/>
                  </a:moveTo>
                  <a:lnTo>
                    <a:pt x="1300480" y="0"/>
                  </a:lnTo>
                  <a:lnTo>
                    <a:pt x="1300480" y="1420830"/>
                  </a:lnTo>
                  <a:lnTo>
                    <a:pt x="0" y="14208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2215" b="-2211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4806145" y="352332"/>
            <a:ext cx="1227810" cy="1322255"/>
            <a:chOff x="0" y="0"/>
            <a:chExt cx="1164146" cy="1253693"/>
          </a:xfrm>
        </p:grpSpPr>
        <p:sp>
          <p:nvSpPr>
            <p:cNvPr id="5" name="Freeform 5" descr="sgbit logo.jpg"/>
            <p:cNvSpPr/>
            <p:nvPr/>
          </p:nvSpPr>
          <p:spPr>
            <a:xfrm>
              <a:off x="0" y="0"/>
              <a:ext cx="1164082" cy="1253744"/>
            </a:xfrm>
            <a:custGeom>
              <a:avLst/>
              <a:gdLst/>
              <a:ahLst/>
              <a:cxnLst/>
              <a:rect l="l" t="t" r="r" b="b"/>
              <a:pathLst>
                <a:path w="1164082" h="1253744">
                  <a:moveTo>
                    <a:pt x="0" y="0"/>
                  </a:moveTo>
                  <a:lnTo>
                    <a:pt x="1164082" y="0"/>
                  </a:lnTo>
                  <a:lnTo>
                    <a:pt x="1164082" y="1253744"/>
                  </a:lnTo>
                  <a:lnTo>
                    <a:pt x="0" y="12537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3846" r="-3851" b="4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3657600" y="0"/>
            <a:ext cx="10851124" cy="1674587"/>
            <a:chOff x="0" y="0"/>
            <a:chExt cx="10288473" cy="158775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0187094" cy="1235009"/>
            </a:xfrm>
            <a:custGeom>
              <a:avLst/>
              <a:gdLst/>
              <a:ahLst/>
              <a:cxnLst/>
              <a:rect l="l" t="t" r="r" b="b"/>
              <a:pathLst>
                <a:path w="10187094" h="1235009">
                  <a:moveTo>
                    <a:pt x="0" y="0"/>
                  </a:moveTo>
                  <a:lnTo>
                    <a:pt x="10187094" y="0"/>
                  </a:lnTo>
                  <a:lnTo>
                    <a:pt x="10187094" y="1235009"/>
                  </a:lnTo>
                  <a:lnTo>
                    <a:pt x="0" y="123500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10724" b="-110723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01384" y="352753"/>
              <a:ext cx="10187089" cy="123500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329"/>
                </a:lnSpc>
              </a:pPr>
              <a:r>
                <a:rPr lang="en-US" sz="2774" b="1" spc="21" dirty="0">
                  <a:solidFill>
                    <a:srgbClr val="78206E"/>
                  </a:solidFill>
                  <a:latin typeface="TT Phobos Bold"/>
                  <a:ea typeface="TT Phobos Bold"/>
                  <a:cs typeface="TT Phobos Bold"/>
                  <a:sym typeface="TT Phobos Bold"/>
                </a:rPr>
                <a:t>SSET’s, S.G.Balekundri Institute of Technology, Belagavi, </a:t>
              </a:r>
            </a:p>
            <a:p>
              <a:pPr algn="ctr">
                <a:lnSpc>
                  <a:spcPts val="3329"/>
                </a:lnSpc>
              </a:pPr>
              <a:r>
                <a:rPr lang="en-US" sz="2774" b="1" spc="21" dirty="0">
                  <a:solidFill>
                    <a:srgbClr val="78206E"/>
                  </a:solidFill>
                  <a:latin typeface="TT Phobos Bold"/>
                  <a:ea typeface="TT Phobos Bold"/>
                  <a:cs typeface="TT Phobos Bold"/>
                  <a:sym typeface="TT Phobos Bold"/>
                </a:rPr>
                <a:t>Department of Computer Science &amp; Business Systems</a:t>
              </a:r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2127516" y="2528182"/>
            <a:ext cx="3060168" cy="6285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16"/>
              </a:lnSpc>
            </a:pPr>
            <a:r>
              <a:rPr lang="en-US" sz="4263" b="1" dirty="0">
                <a:solidFill>
                  <a:srgbClr val="FF0000"/>
                </a:solidFill>
                <a:latin typeface="Aptos Bold"/>
                <a:ea typeface="Aptos Bold"/>
                <a:cs typeface="Aptos Bold"/>
                <a:sym typeface="Aptos Bold"/>
              </a:rPr>
              <a:t>Introduction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FB55B51-5FC2-5163-2116-8FBD520D4D02}"/>
              </a:ext>
            </a:extLst>
          </p:cNvPr>
          <p:cNvSpPr txBox="1"/>
          <p:nvPr/>
        </p:nvSpPr>
        <p:spPr>
          <a:xfrm>
            <a:off x="2095507" y="3657750"/>
            <a:ext cx="13938382" cy="60220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Blockchain-Based Secure Medical Record System is designed to give patients verifiable ownership of their health data. Medical files are encrypted inside the patient's own browser using AES-256-GCM, stored off-chain on IPFS, and anchored to the Ethereum blockchain by a cryptographic hash. The complete medical file is never written to the blockchain.</a:t>
            </a:r>
          </a:p>
          <a:p>
            <a:pPr algn="just">
              <a:lnSpc>
                <a:spcPct val="150000"/>
              </a:lnSpc>
            </a:pPr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Access is governed by a smart contract rather than by a server administrator. A doctor must request permission, and only the patient can approve, reject or revoke it. Every such decision is recorded permanently as a blockchain event, producing an audit trail that no hospital, developer or administrator can alter or delete.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271252" y="238114"/>
            <a:ext cx="1371600" cy="1498478"/>
            <a:chOff x="0" y="0"/>
            <a:chExt cx="1300480" cy="1420780"/>
          </a:xfrm>
        </p:grpSpPr>
        <p:sp>
          <p:nvSpPr>
            <p:cNvPr id="3" name="Freeform 3" descr="Dr Shivabasava swamiji.jpg"/>
            <p:cNvSpPr/>
            <p:nvPr/>
          </p:nvSpPr>
          <p:spPr>
            <a:xfrm>
              <a:off x="0" y="0"/>
              <a:ext cx="1300480" cy="1420830"/>
            </a:xfrm>
            <a:custGeom>
              <a:avLst/>
              <a:gdLst/>
              <a:ahLst/>
              <a:cxnLst/>
              <a:rect l="l" t="t" r="r" b="b"/>
              <a:pathLst>
                <a:path w="1300480" h="1420830">
                  <a:moveTo>
                    <a:pt x="0" y="0"/>
                  </a:moveTo>
                  <a:lnTo>
                    <a:pt x="1300480" y="0"/>
                  </a:lnTo>
                  <a:lnTo>
                    <a:pt x="1300480" y="1420830"/>
                  </a:lnTo>
                  <a:lnTo>
                    <a:pt x="0" y="14208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2215" b="-2211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4630395" y="243980"/>
            <a:ext cx="1227810" cy="1322255"/>
            <a:chOff x="0" y="0"/>
            <a:chExt cx="1164146" cy="1253693"/>
          </a:xfrm>
        </p:grpSpPr>
        <p:sp>
          <p:nvSpPr>
            <p:cNvPr id="5" name="Freeform 5" descr="sgbit logo.jpg"/>
            <p:cNvSpPr/>
            <p:nvPr/>
          </p:nvSpPr>
          <p:spPr>
            <a:xfrm>
              <a:off x="0" y="0"/>
              <a:ext cx="1164082" cy="1253744"/>
            </a:xfrm>
            <a:custGeom>
              <a:avLst/>
              <a:gdLst/>
              <a:ahLst/>
              <a:cxnLst/>
              <a:rect l="l" t="t" r="r" b="b"/>
              <a:pathLst>
                <a:path w="1164082" h="1253744">
                  <a:moveTo>
                    <a:pt x="0" y="0"/>
                  </a:moveTo>
                  <a:lnTo>
                    <a:pt x="1164082" y="0"/>
                  </a:lnTo>
                  <a:lnTo>
                    <a:pt x="1164082" y="1253744"/>
                  </a:lnTo>
                  <a:lnTo>
                    <a:pt x="0" y="12537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3846" r="-3851" b="4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3657600" y="0"/>
            <a:ext cx="10744201" cy="1508082"/>
            <a:chOff x="0" y="0"/>
            <a:chExt cx="10187094" cy="142988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0187094" cy="1235009"/>
            </a:xfrm>
            <a:custGeom>
              <a:avLst/>
              <a:gdLst/>
              <a:ahLst/>
              <a:cxnLst/>
              <a:rect l="l" t="t" r="r" b="b"/>
              <a:pathLst>
                <a:path w="10187094" h="1235009">
                  <a:moveTo>
                    <a:pt x="0" y="0"/>
                  </a:moveTo>
                  <a:lnTo>
                    <a:pt x="10187094" y="0"/>
                  </a:lnTo>
                  <a:lnTo>
                    <a:pt x="10187094" y="1235009"/>
                  </a:lnTo>
                  <a:lnTo>
                    <a:pt x="0" y="123500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10724" b="-110723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5" y="194881"/>
              <a:ext cx="10187089" cy="123500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329"/>
                </a:lnSpc>
              </a:pPr>
              <a:r>
                <a:rPr lang="en-US" sz="2774" b="1" spc="21" dirty="0">
                  <a:solidFill>
                    <a:srgbClr val="78206E"/>
                  </a:solidFill>
                  <a:latin typeface="TT Phobos Bold"/>
                  <a:ea typeface="TT Phobos Bold"/>
                  <a:cs typeface="TT Phobos Bold"/>
                  <a:sym typeface="TT Phobos Bold"/>
                </a:rPr>
                <a:t>SSET’s, S.G.Balekundri Institute of Technology, Belagavi, </a:t>
              </a:r>
            </a:p>
            <a:p>
              <a:pPr algn="ctr">
                <a:lnSpc>
                  <a:spcPts val="3329"/>
                </a:lnSpc>
              </a:pPr>
              <a:r>
                <a:rPr lang="en-US" sz="2774" b="1" spc="21" dirty="0">
                  <a:solidFill>
                    <a:srgbClr val="78206E"/>
                  </a:solidFill>
                  <a:latin typeface="TT Phobos Bold"/>
                  <a:ea typeface="TT Phobos Bold"/>
                  <a:cs typeface="TT Phobos Bold"/>
                  <a:sym typeface="TT Phobos Bold"/>
                </a:rPr>
                <a:t>Department of Computer Science &amp; Business Systems</a:t>
              </a:r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2271252" y="1983410"/>
            <a:ext cx="3437790" cy="5089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49"/>
              </a:lnSpc>
            </a:pPr>
            <a:r>
              <a:rPr lang="en-US" sz="3374" b="1">
                <a:solidFill>
                  <a:srgbClr val="FF0000"/>
                </a:solidFill>
                <a:latin typeface="Aptos Bold"/>
                <a:ea typeface="Aptos Bold"/>
                <a:cs typeface="Aptos Bold"/>
                <a:sym typeface="Aptos Bold"/>
              </a:rPr>
              <a:t>Literature Survey: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9777ED8B-DD27-56F0-FD5D-6D1F2FC9E7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195071"/>
              </p:ext>
            </p:extLst>
          </p:nvPr>
        </p:nvGraphicFramePr>
        <p:xfrm>
          <a:off x="914400" y="2743200"/>
          <a:ext cx="16687800" cy="7310353"/>
        </p:xfrm>
        <a:graphic>
          <a:graphicData uri="http://schemas.openxmlformats.org/drawingml/2006/table">
            <a:tbl>
              <a:tblPr/>
              <a:tblGrid>
                <a:gridCol w="1143000">
                  <a:extLst>
                    <a:ext uri="{9D8B030D-6E8A-4147-A177-3AD203B41FA5}">
                      <a16:colId xmlns:a16="http://schemas.microsoft.com/office/drawing/2014/main" val="3476361792"/>
                    </a:ext>
                  </a:extLst>
                </a:gridCol>
                <a:gridCol w="3429000">
                  <a:extLst>
                    <a:ext uri="{9D8B030D-6E8A-4147-A177-3AD203B41FA5}">
                      <a16:colId xmlns:a16="http://schemas.microsoft.com/office/drawing/2014/main" val="2348339681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1908958629"/>
                    </a:ext>
                  </a:extLst>
                </a:gridCol>
                <a:gridCol w="3276600">
                  <a:extLst>
                    <a:ext uri="{9D8B030D-6E8A-4147-A177-3AD203B41FA5}">
                      <a16:colId xmlns:a16="http://schemas.microsoft.com/office/drawing/2014/main" val="2190486652"/>
                    </a:ext>
                  </a:extLst>
                </a:gridCol>
                <a:gridCol w="3009900">
                  <a:extLst>
                    <a:ext uri="{9D8B030D-6E8A-4147-A177-3AD203B41FA5}">
                      <a16:colId xmlns:a16="http://schemas.microsoft.com/office/drawing/2014/main" val="3419560505"/>
                    </a:ext>
                  </a:extLst>
                </a:gridCol>
                <a:gridCol w="2781300">
                  <a:extLst>
                    <a:ext uri="{9D8B030D-6E8A-4147-A177-3AD203B41FA5}">
                      <a16:colId xmlns:a16="http://schemas.microsoft.com/office/drawing/2014/main" val="3203967619"/>
                    </a:ext>
                  </a:extLst>
                </a:gridCol>
              </a:tblGrid>
              <a:tr h="79461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 No.</a:t>
                      </a:r>
                    </a:p>
                  </a:txBody>
                  <a:tcPr marL="35085" marR="35085" marT="17542" marB="175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 &amp; Year</a:t>
                      </a:r>
                    </a:p>
                  </a:txBody>
                  <a:tcPr marL="35085" marR="35085" marT="17542" marB="175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</a:t>
                      </a:r>
                    </a:p>
                  </a:txBody>
                  <a:tcPr marL="35085" marR="35085" marT="17542" marB="175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Methodology</a:t>
                      </a:r>
                    </a:p>
                  </a:txBody>
                  <a:tcPr marL="35085" marR="35085" marT="17542" marB="175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Dataset</a:t>
                      </a:r>
                    </a:p>
                  </a:txBody>
                  <a:tcPr marL="35085" marR="35085" marT="17542" marB="175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Result</a:t>
                      </a:r>
                    </a:p>
                  </a:txBody>
                  <a:tcPr marL="35085" marR="35085" marT="17542" marB="175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942575"/>
                  </a:ext>
                </a:extLst>
              </a:tr>
              <a:tr h="214304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35085" marR="35085" marT="17542" marB="175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i-FI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A. Azaria, A. Ekblaw, T. Vieira, A. Lippman (2016)</a:t>
                      </a:r>
                    </a:p>
                  </a:txBody>
                  <a:tcPr marL="35085" marR="35085" marT="17542" marB="175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MedRec: Using Blockchain for Medical Data Access and Permission Management</a:t>
                      </a:r>
                    </a:p>
                  </a:txBody>
                  <a:tcPr marL="35085" marR="35085" marT="17542" marB="175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Ethereum smart contracts managing authorization and pointers to provider databases</a:t>
                      </a:r>
                    </a:p>
                  </a:txBody>
                  <a:tcPr marL="35085" marR="35085" marT="17542" marB="175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Provider EMR databases (pointers only)</a:t>
                      </a:r>
                    </a:p>
                  </a:txBody>
                  <a:tcPr marL="35085" marR="35085" marT="17542" marB="175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Decentralized permission management; established on-chain permissions with off-chain data</a:t>
                      </a:r>
                    </a:p>
                  </a:txBody>
                  <a:tcPr marL="35085" marR="35085" marT="17542" marB="175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94692900"/>
                  </a:ext>
                </a:extLst>
              </a:tr>
              <a:tr h="214304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35085" marR="35085" marT="17542" marB="175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i-FI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Q. Xia, E. B. Sifah, K. O. Asamoah, et al. (2017)</a:t>
                      </a:r>
                    </a:p>
                  </a:txBody>
                  <a:tcPr marL="35085" marR="35085" marT="17542" marB="175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MeDShare: Trust-less Medical Data Sharing Among Cloud Service Providers</a:t>
                      </a:r>
                    </a:p>
                  </a:txBody>
                  <a:tcPr marL="35085" marR="35085" marT="17542" marB="175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Smart contracts with provenance tracking and automatic revocation on misuse</a:t>
                      </a:r>
                    </a:p>
                  </a:txBody>
                  <a:tcPr marL="35085" marR="35085" marT="17542" marB="175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Cloud-hosted medical datasets</a:t>
                      </a:r>
                    </a:p>
                  </a:txBody>
                  <a:tcPr marL="35085" marR="35085" marT="17542" marB="175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Auditable data sharing between untrusted providers with automated revocation</a:t>
                      </a:r>
                    </a:p>
                  </a:txBody>
                  <a:tcPr marL="35085" marR="35085" marT="17542" marB="175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3667544"/>
                  </a:ext>
                </a:extLst>
              </a:tr>
              <a:tr h="214304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35085" marR="35085" marT="17542" marB="175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G. Zyskind, O. Nathan, A. Pentland (2015)</a:t>
                      </a:r>
                    </a:p>
                  </a:txBody>
                  <a:tcPr marL="35085" marR="35085" marT="17542" marB="175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Decentralizing Privacy: Using Blockchain to Protect Personal Data</a:t>
                      </a:r>
                    </a:p>
                  </a:txBody>
                  <a:tcPr marL="35085" marR="35085" marT="17542" marB="175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Blockchain as an automated access-control manager storing pointers and permissions</a:t>
                      </a:r>
                    </a:p>
                  </a:txBody>
                  <a:tcPr marL="35085" marR="35085" marT="17542" marB="175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Personal data stored off-chain</a:t>
                      </a:r>
                    </a:p>
                  </a:txBody>
                  <a:tcPr marL="35085" marR="35085" marT="17542" marB="175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Removed need to trust a third party for access control enforcement</a:t>
                      </a:r>
                    </a:p>
                  </a:txBody>
                  <a:tcPr marL="35085" marR="35085" marT="17542" marB="175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7614107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285995" y="181121"/>
            <a:ext cx="1371600" cy="1498478"/>
            <a:chOff x="0" y="0"/>
            <a:chExt cx="1300480" cy="1420780"/>
          </a:xfrm>
        </p:grpSpPr>
        <p:sp>
          <p:nvSpPr>
            <p:cNvPr id="3" name="Freeform 3" descr="Dr Shivabasava swamiji.jpg"/>
            <p:cNvSpPr/>
            <p:nvPr/>
          </p:nvSpPr>
          <p:spPr>
            <a:xfrm>
              <a:off x="0" y="0"/>
              <a:ext cx="1300480" cy="1420830"/>
            </a:xfrm>
            <a:custGeom>
              <a:avLst/>
              <a:gdLst/>
              <a:ahLst/>
              <a:cxnLst/>
              <a:rect l="l" t="t" r="r" b="b"/>
              <a:pathLst>
                <a:path w="1300480" h="1420830">
                  <a:moveTo>
                    <a:pt x="0" y="0"/>
                  </a:moveTo>
                  <a:lnTo>
                    <a:pt x="1300480" y="0"/>
                  </a:lnTo>
                  <a:lnTo>
                    <a:pt x="1300480" y="1420830"/>
                  </a:lnTo>
                  <a:lnTo>
                    <a:pt x="0" y="14208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2215" b="-2211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4630400" y="214029"/>
            <a:ext cx="1227810" cy="1322255"/>
            <a:chOff x="0" y="0"/>
            <a:chExt cx="1164146" cy="1253693"/>
          </a:xfrm>
        </p:grpSpPr>
        <p:sp>
          <p:nvSpPr>
            <p:cNvPr id="5" name="Freeform 5" descr="sgbit logo.jpg"/>
            <p:cNvSpPr/>
            <p:nvPr/>
          </p:nvSpPr>
          <p:spPr>
            <a:xfrm>
              <a:off x="0" y="0"/>
              <a:ext cx="1164082" cy="1253744"/>
            </a:xfrm>
            <a:custGeom>
              <a:avLst/>
              <a:gdLst/>
              <a:ahLst/>
              <a:cxnLst/>
              <a:rect l="l" t="t" r="r" b="b"/>
              <a:pathLst>
                <a:path w="1164082" h="1253744">
                  <a:moveTo>
                    <a:pt x="0" y="0"/>
                  </a:moveTo>
                  <a:lnTo>
                    <a:pt x="1164082" y="0"/>
                  </a:lnTo>
                  <a:lnTo>
                    <a:pt x="1164082" y="1253744"/>
                  </a:lnTo>
                  <a:lnTo>
                    <a:pt x="0" y="12537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3846" r="-3851" b="4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3657598" y="171742"/>
            <a:ext cx="10744201" cy="1385176"/>
            <a:chOff x="-2" y="221615"/>
            <a:chExt cx="10187094" cy="1313352"/>
          </a:xfrm>
        </p:grpSpPr>
        <p:sp>
          <p:nvSpPr>
            <p:cNvPr id="7" name="Freeform 7"/>
            <p:cNvSpPr/>
            <p:nvPr/>
          </p:nvSpPr>
          <p:spPr>
            <a:xfrm>
              <a:off x="-2" y="221615"/>
              <a:ext cx="10187094" cy="1235009"/>
            </a:xfrm>
            <a:custGeom>
              <a:avLst/>
              <a:gdLst/>
              <a:ahLst/>
              <a:cxnLst/>
              <a:rect l="l" t="t" r="r" b="b"/>
              <a:pathLst>
                <a:path w="10187094" h="1235009">
                  <a:moveTo>
                    <a:pt x="0" y="0"/>
                  </a:moveTo>
                  <a:lnTo>
                    <a:pt x="10187094" y="0"/>
                  </a:lnTo>
                  <a:lnTo>
                    <a:pt x="10187094" y="1235009"/>
                  </a:lnTo>
                  <a:lnTo>
                    <a:pt x="0" y="123500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10724" b="-110723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299963"/>
              <a:ext cx="10187089" cy="123500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329"/>
                </a:lnSpc>
              </a:pPr>
              <a:r>
                <a:rPr lang="en-US" sz="2774" b="1" spc="21" dirty="0">
                  <a:solidFill>
                    <a:srgbClr val="78206E"/>
                  </a:solidFill>
                  <a:latin typeface="TT Phobos Bold"/>
                  <a:ea typeface="TT Phobos Bold"/>
                  <a:cs typeface="TT Phobos Bold"/>
                  <a:sym typeface="TT Phobos Bold"/>
                </a:rPr>
                <a:t>SSET’s, S.G.Balekundri Institute of Technology, Belagavi, </a:t>
              </a:r>
            </a:p>
            <a:p>
              <a:pPr algn="ctr">
                <a:lnSpc>
                  <a:spcPts val="3329"/>
                </a:lnSpc>
              </a:pPr>
              <a:r>
                <a:rPr lang="en-US" sz="2774" b="1" spc="21" dirty="0">
                  <a:solidFill>
                    <a:srgbClr val="78206E"/>
                  </a:solidFill>
                  <a:latin typeface="TT Phobos Bold"/>
                  <a:ea typeface="TT Phobos Bold"/>
                  <a:cs typeface="TT Phobos Bold"/>
                  <a:sym typeface="TT Phobos Bold"/>
                </a:rPr>
                <a:t>Department of Computer Science &amp; Business Systems</a:t>
              </a:r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524000" y="1958767"/>
            <a:ext cx="3437790" cy="5089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49"/>
              </a:lnSpc>
            </a:pPr>
            <a:r>
              <a:rPr lang="en-US" sz="3374" b="1" dirty="0">
                <a:solidFill>
                  <a:srgbClr val="FF0000"/>
                </a:solidFill>
                <a:latin typeface="Aptos Bold"/>
                <a:ea typeface="Aptos Bold"/>
                <a:cs typeface="Aptos Bold"/>
                <a:sym typeface="Aptos Bold"/>
              </a:rPr>
              <a:t>Literature Survey: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1D60F19F-CDA9-4266-F20C-8F09875947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7902358"/>
              </p:ext>
            </p:extLst>
          </p:nvPr>
        </p:nvGraphicFramePr>
        <p:xfrm>
          <a:off x="571500" y="2746875"/>
          <a:ext cx="17145000" cy="7223757"/>
        </p:xfrm>
        <a:graphic>
          <a:graphicData uri="http://schemas.openxmlformats.org/drawingml/2006/table">
            <a:tbl>
              <a:tblPr/>
              <a:tblGrid>
                <a:gridCol w="876300">
                  <a:extLst>
                    <a:ext uri="{9D8B030D-6E8A-4147-A177-3AD203B41FA5}">
                      <a16:colId xmlns:a16="http://schemas.microsoft.com/office/drawing/2014/main" val="2222924472"/>
                    </a:ext>
                  </a:extLst>
                </a:gridCol>
                <a:gridCol w="3685032">
                  <a:extLst>
                    <a:ext uri="{9D8B030D-6E8A-4147-A177-3AD203B41FA5}">
                      <a16:colId xmlns:a16="http://schemas.microsoft.com/office/drawing/2014/main" val="3566211014"/>
                    </a:ext>
                  </a:extLst>
                </a:gridCol>
                <a:gridCol w="3439668">
                  <a:extLst>
                    <a:ext uri="{9D8B030D-6E8A-4147-A177-3AD203B41FA5}">
                      <a16:colId xmlns:a16="http://schemas.microsoft.com/office/drawing/2014/main" val="1588682207"/>
                    </a:ext>
                  </a:extLst>
                </a:gridCol>
                <a:gridCol w="2819400">
                  <a:extLst>
                    <a:ext uri="{9D8B030D-6E8A-4147-A177-3AD203B41FA5}">
                      <a16:colId xmlns:a16="http://schemas.microsoft.com/office/drawing/2014/main" val="1177850831"/>
                    </a:ext>
                  </a:extLst>
                </a:gridCol>
                <a:gridCol w="2819400">
                  <a:extLst>
                    <a:ext uri="{9D8B030D-6E8A-4147-A177-3AD203B41FA5}">
                      <a16:colId xmlns:a16="http://schemas.microsoft.com/office/drawing/2014/main" val="1875875452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580643286"/>
                    </a:ext>
                  </a:extLst>
                </a:gridCol>
              </a:tblGrid>
              <a:tr h="79461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 No.</a:t>
                      </a:r>
                    </a:p>
                  </a:txBody>
                  <a:tcPr marL="35085" marR="35085" marT="17542" marB="175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 &amp; Year</a:t>
                      </a:r>
                    </a:p>
                  </a:txBody>
                  <a:tcPr marL="35085" marR="35085" marT="17542" marB="175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</a:t>
                      </a:r>
                    </a:p>
                  </a:txBody>
                  <a:tcPr marL="35085" marR="35085" marT="17542" marB="175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Methodology</a:t>
                      </a:r>
                    </a:p>
                  </a:txBody>
                  <a:tcPr marL="35085" marR="35085" marT="17542" marB="175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Dataset</a:t>
                      </a:r>
                    </a:p>
                  </a:txBody>
                  <a:tcPr marL="35085" marR="35085" marT="17542" marB="175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Result</a:t>
                      </a:r>
                    </a:p>
                  </a:txBody>
                  <a:tcPr marL="35085" marR="35085" marT="17542" marB="175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29899200"/>
                  </a:ext>
                </a:extLst>
              </a:tr>
              <a:tr h="214304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35085" marR="35085" marT="17542" marB="175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A. Dubovitskaya, Z. Xu, S. Ryu, M. Schumacher, F. Wang (2017)</a:t>
                      </a:r>
                    </a:p>
                  </a:txBody>
                  <a:tcPr marL="35085" marR="35085" marT="17542" marB="175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Secure and Trustable Electronic Medical Records Sharing Using Blockchain</a:t>
                      </a:r>
                    </a:p>
                  </a:txBody>
                  <a:tcPr marL="35085" marR="35085" marT="17542" marB="175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Permissioned blockchain among known hospitals with cloud storage</a:t>
                      </a:r>
                    </a:p>
                  </a:txBody>
                  <a:tcPr marL="35085" marR="35085" marT="17542" marB="175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Oncology patient records</a:t>
                      </a:r>
                    </a:p>
                  </a:txBody>
                  <a:tcPr marL="35085" marR="35085" marT="17542" marB="175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Improved sharing within a regulated consortium of accountable institutions</a:t>
                      </a:r>
                    </a:p>
                  </a:txBody>
                  <a:tcPr marL="35085" marR="35085" marT="17542" marB="175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5898346"/>
                  </a:ext>
                </a:extLst>
              </a:tr>
              <a:tr h="214304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35085" marR="35085" marT="17542" marB="175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T. T. Kuo, H. E. Kim, L. Ohno-Machado (2017)</a:t>
                      </a:r>
                    </a:p>
                  </a:txBody>
                  <a:tcPr marL="35085" marR="35085" marT="17542" marB="175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Blockchain Distributed Ledger Technologies for Biomedical and Health Care Applications</a:t>
                      </a:r>
                    </a:p>
                  </a:txBody>
                  <a:tcPr marL="35085" marR="35085" marT="17542" marB="175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Comparative survey of distributed ledger designs for biomedical use</a:t>
                      </a:r>
                    </a:p>
                  </a:txBody>
                  <a:tcPr marL="35085" marR="35085" marT="17542" marB="175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Review of existing biomedical systems</a:t>
                      </a:r>
                    </a:p>
                  </a:txBody>
                  <a:tcPr marL="35085" marR="35085" marT="17542" marB="175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Identified immutability and auditability as key benefits; flagged scalability limits</a:t>
                      </a:r>
                    </a:p>
                  </a:txBody>
                  <a:tcPr marL="35085" marR="35085" marT="17542" marB="175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6267569"/>
                  </a:ext>
                </a:extLst>
              </a:tr>
              <a:tr h="214304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 marL="35085" marR="35085" marT="17542" marB="175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J. Benet (2014)</a:t>
                      </a:r>
                    </a:p>
                  </a:txBody>
                  <a:tcPr marL="35085" marR="35085" marT="17542" marB="175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IPFS: Content Addressed, Versioned, Peer-to-Peer File System</a:t>
                      </a:r>
                    </a:p>
                  </a:txBody>
                  <a:tcPr marL="35085" marR="35085" marT="17542" marB="175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Content-addressed distributed storage where the identifier derives from file contents</a:t>
                      </a:r>
                    </a:p>
                  </a:txBody>
                  <a:tcPr marL="35085" marR="35085" marT="17542" marB="175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Distributed file storage network</a:t>
                      </a:r>
                    </a:p>
                  </a:txBody>
                  <a:tcPr marL="35085" marR="35085" marT="17542" marB="175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Enables off-chain storage whose integrity is verifiable from the identifier alone</a:t>
                      </a:r>
                    </a:p>
                  </a:txBody>
                  <a:tcPr marL="35085" marR="35085" marT="17542" marB="175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22922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095507" y="352332"/>
            <a:ext cx="1371600" cy="1498478"/>
            <a:chOff x="0" y="0"/>
            <a:chExt cx="1300480" cy="1420780"/>
          </a:xfrm>
        </p:grpSpPr>
        <p:sp>
          <p:nvSpPr>
            <p:cNvPr id="3" name="Freeform 3" descr="Dr Shivabasava swamiji.jpg"/>
            <p:cNvSpPr/>
            <p:nvPr/>
          </p:nvSpPr>
          <p:spPr>
            <a:xfrm>
              <a:off x="0" y="0"/>
              <a:ext cx="1300480" cy="1420830"/>
            </a:xfrm>
            <a:custGeom>
              <a:avLst/>
              <a:gdLst/>
              <a:ahLst/>
              <a:cxnLst/>
              <a:rect l="l" t="t" r="r" b="b"/>
              <a:pathLst>
                <a:path w="1300480" h="1420830">
                  <a:moveTo>
                    <a:pt x="0" y="0"/>
                  </a:moveTo>
                  <a:lnTo>
                    <a:pt x="1300480" y="0"/>
                  </a:lnTo>
                  <a:lnTo>
                    <a:pt x="1300480" y="1420830"/>
                  </a:lnTo>
                  <a:lnTo>
                    <a:pt x="0" y="14208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2215" b="-2211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4806145" y="352332"/>
            <a:ext cx="1227810" cy="1322255"/>
            <a:chOff x="0" y="0"/>
            <a:chExt cx="1164146" cy="1253693"/>
          </a:xfrm>
        </p:grpSpPr>
        <p:sp>
          <p:nvSpPr>
            <p:cNvPr id="5" name="Freeform 5" descr="sgbit logo.jpg"/>
            <p:cNvSpPr/>
            <p:nvPr/>
          </p:nvSpPr>
          <p:spPr>
            <a:xfrm>
              <a:off x="0" y="0"/>
              <a:ext cx="1164082" cy="1253744"/>
            </a:xfrm>
            <a:custGeom>
              <a:avLst/>
              <a:gdLst/>
              <a:ahLst/>
              <a:cxnLst/>
              <a:rect l="l" t="t" r="r" b="b"/>
              <a:pathLst>
                <a:path w="1164082" h="1253744">
                  <a:moveTo>
                    <a:pt x="0" y="0"/>
                  </a:moveTo>
                  <a:lnTo>
                    <a:pt x="1164082" y="0"/>
                  </a:lnTo>
                  <a:lnTo>
                    <a:pt x="1164082" y="1253744"/>
                  </a:lnTo>
                  <a:lnTo>
                    <a:pt x="0" y="12537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3846" r="-3851" b="4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3657600" y="0"/>
            <a:ext cx="10851124" cy="1674587"/>
            <a:chOff x="0" y="0"/>
            <a:chExt cx="10288473" cy="158775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0187094" cy="1235009"/>
            </a:xfrm>
            <a:custGeom>
              <a:avLst/>
              <a:gdLst/>
              <a:ahLst/>
              <a:cxnLst/>
              <a:rect l="l" t="t" r="r" b="b"/>
              <a:pathLst>
                <a:path w="10187094" h="1235009">
                  <a:moveTo>
                    <a:pt x="0" y="0"/>
                  </a:moveTo>
                  <a:lnTo>
                    <a:pt x="10187094" y="0"/>
                  </a:lnTo>
                  <a:lnTo>
                    <a:pt x="10187094" y="1235009"/>
                  </a:lnTo>
                  <a:lnTo>
                    <a:pt x="0" y="123500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10724" b="-110723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01384" y="352753"/>
              <a:ext cx="10187089" cy="123500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329"/>
                </a:lnSpc>
              </a:pPr>
              <a:r>
                <a:rPr lang="en-US" sz="2774" b="1" spc="21" dirty="0">
                  <a:solidFill>
                    <a:srgbClr val="78206E"/>
                  </a:solidFill>
                  <a:latin typeface="TT Phobos Bold"/>
                  <a:ea typeface="TT Phobos Bold"/>
                  <a:cs typeface="TT Phobos Bold"/>
                  <a:sym typeface="TT Phobos Bold"/>
                </a:rPr>
                <a:t>SSET’s, S.G.Balekundri Institute of Technology, Belagavi, </a:t>
              </a:r>
            </a:p>
            <a:p>
              <a:pPr algn="ctr">
                <a:lnSpc>
                  <a:spcPts val="3329"/>
                </a:lnSpc>
              </a:pPr>
              <a:r>
                <a:rPr lang="en-US" sz="2774" b="1" spc="21" dirty="0">
                  <a:solidFill>
                    <a:srgbClr val="78206E"/>
                  </a:solidFill>
                  <a:latin typeface="TT Phobos Bold"/>
                  <a:ea typeface="TT Phobos Bold"/>
                  <a:cs typeface="TT Phobos Bold"/>
                  <a:sym typeface="TT Phobos Bold"/>
                </a:rPr>
                <a:t>Department of Computer Science &amp; Business Systems</a:t>
              </a:r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2072260" y="1979867"/>
            <a:ext cx="3060168" cy="1308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16"/>
              </a:lnSpc>
            </a:pPr>
            <a:r>
              <a:rPr lang="en-US" sz="4263" b="1" dirty="0">
                <a:solidFill>
                  <a:srgbClr val="FF0000"/>
                </a:solidFill>
                <a:latin typeface="Aptos Bold"/>
                <a:ea typeface="Aptos Bold"/>
                <a:cs typeface="Aptos Bold"/>
                <a:sym typeface="Aptos Bold"/>
              </a:rPr>
              <a:t>Problem Statement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FB55B51-5FC2-5163-2116-8FBD520D4D02}"/>
              </a:ext>
            </a:extLst>
          </p:cNvPr>
          <p:cNvSpPr txBox="1"/>
          <p:nvPr/>
        </p:nvSpPr>
        <p:spPr>
          <a:xfrm>
            <a:off x="2174809" y="3988035"/>
            <a:ext cx="13938382" cy="51855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medical record systems store sensitive patient data in centralized databases, which creates three structural weaknesses.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Confidentiality: a single intrusion exposes every record at once, making healthcare one of the most frequently breached sectors.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Integrity: when one organization holds both the records and the access log, that log is only as trustworthy as the organization. Alterations leave no evidence a patient can verify.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Control: patients cannot technically grant or withdraw access. Consent is a policy promise rather than an enforced constraint, and patients cannot see who has read their data.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2352084" y="2172202"/>
            <a:ext cx="3439116" cy="6903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453"/>
              </a:lnSpc>
            </a:pPr>
            <a:r>
              <a:rPr lang="en-US" sz="4544" b="1" dirty="0">
                <a:solidFill>
                  <a:srgbClr val="FF0000"/>
                </a:solidFill>
                <a:latin typeface="Aptos Bold"/>
                <a:ea typeface="Aptos Bold"/>
                <a:cs typeface="Aptos Bold"/>
                <a:sym typeface="Aptos Bold"/>
              </a:rPr>
              <a:t>Objectives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2271255" y="176276"/>
            <a:ext cx="1371600" cy="1498478"/>
            <a:chOff x="0" y="0"/>
            <a:chExt cx="1300480" cy="1420780"/>
          </a:xfrm>
        </p:grpSpPr>
        <p:sp>
          <p:nvSpPr>
            <p:cNvPr id="5" name="Freeform 5" descr="Dr Shivabasava swamiji.jpg"/>
            <p:cNvSpPr/>
            <p:nvPr/>
          </p:nvSpPr>
          <p:spPr>
            <a:xfrm>
              <a:off x="0" y="0"/>
              <a:ext cx="1300480" cy="1420830"/>
            </a:xfrm>
            <a:custGeom>
              <a:avLst/>
              <a:gdLst/>
              <a:ahLst/>
              <a:cxnLst/>
              <a:rect l="l" t="t" r="r" b="b"/>
              <a:pathLst>
                <a:path w="1300480" h="1420830">
                  <a:moveTo>
                    <a:pt x="0" y="0"/>
                  </a:moveTo>
                  <a:lnTo>
                    <a:pt x="1300480" y="0"/>
                  </a:lnTo>
                  <a:lnTo>
                    <a:pt x="1300480" y="1420830"/>
                  </a:lnTo>
                  <a:lnTo>
                    <a:pt x="0" y="14208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2215" b="-2211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3657600" y="0"/>
            <a:ext cx="10843750" cy="1637034"/>
            <a:chOff x="0" y="0"/>
            <a:chExt cx="10281481" cy="1552151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0187094" cy="1235009"/>
            </a:xfrm>
            <a:custGeom>
              <a:avLst/>
              <a:gdLst/>
              <a:ahLst/>
              <a:cxnLst/>
              <a:rect l="l" t="t" r="r" b="b"/>
              <a:pathLst>
                <a:path w="10187094" h="1235009">
                  <a:moveTo>
                    <a:pt x="0" y="0"/>
                  </a:moveTo>
                  <a:lnTo>
                    <a:pt x="10187094" y="0"/>
                  </a:lnTo>
                  <a:lnTo>
                    <a:pt x="10187094" y="1235009"/>
                  </a:lnTo>
                  <a:lnTo>
                    <a:pt x="0" y="123500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10724" b="-110723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94392" y="317147"/>
              <a:ext cx="10187089" cy="123500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329"/>
                </a:lnSpc>
              </a:pPr>
              <a:r>
                <a:rPr lang="en-US" sz="2774" b="1" spc="21" dirty="0">
                  <a:solidFill>
                    <a:srgbClr val="78206E"/>
                  </a:solidFill>
                  <a:latin typeface="TT Phobos Bold"/>
                  <a:ea typeface="TT Phobos Bold"/>
                  <a:cs typeface="TT Phobos Bold"/>
                  <a:sym typeface="TT Phobos Bold"/>
                </a:rPr>
                <a:t>SSET’s, S.G.Balekundri Institute of Technology, Belagavi, </a:t>
              </a:r>
            </a:p>
            <a:p>
              <a:pPr algn="ctr">
                <a:lnSpc>
                  <a:spcPts val="3329"/>
                </a:lnSpc>
              </a:pPr>
              <a:r>
                <a:rPr lang="en-US" sz="2774" b="1" spc="21" dirty="0">
                  <a:solidFill>
                    <a:srgbClr val="78206E"/>
                  </a:solidFill>
                  <a:latin typeface="TT Phobos Bold"/>
                  <a:ea typeface="TT Phobos Bold"/>
                  <a:cs typeface="TT Phobos Bold"/>
                  <a:sym typeface="TT Phobos Bold"/>
                </a:rPr>
                <a:t>Department of Computer Science &amp; Business Systems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4630400" y="176276"/>
            <a:ext cx="1227810" cy="1322255"/>
            <a:chOff x="0" y="0"/>
            <a:chExt cx="1164146" cy="1253693"/>
          </a:xfrm>
        </p:grpSpPr>
        <p:sp>
          <p:nvSpPr>
            <p:cNvPr id="10" name="Freeform 10" descr="sgbit logo.jpg"/>
            <p:cNvSpPr/>
            <p:nvPr/>
          </p:nvSpPr>
          <p:spPr>
            <a:xfrm>
              <a:off x="0" y="0"/>
              <a:ext cx="1164082" cy="1253744"/>
            </a:xfrm>
            <a:custGeom>
              <a:avLst/>
              <a:gdLst/>
              <a:ahLst/>
              <a:cxnLst/>
              <a:rect l="l" t="t" r="r" b="b"/>
              <a:pathLst>
                <a:path w="1164082" h="1253744">
                  <a:moveTo>
                    <a:pt x="0" y="0"/>
                  </a:moveTo>
                  <a:lnTo>
                    <a:pt x="1164082" y="0"/>
                  </a:lnTo>
                  <a:lnTo>
                    <a:pt x="1164082" y="1253744"/>
                  </a:lnTo>
                  <a:lnTo>
                    <a:pt x="0" y="12537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3846" r="-3851" b="4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37E867CD-B18E-8ABA-0A9E-D9B3C562B0E4}"/>
              </a:ext>
            </a:extLst>
          </p:cNvPr>
          <p:cNvSpPr txBox="1"/>
          <p:nvPr/>
        </p:nvSpPr>
        <p:spPr>
          <a:xfrm>
            <a:off x="2375331" y="3757423"/>
            <a:ext cx="13576304" cy="51855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encrypt every medical record in the browser before it leaves the patient's device.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store encrypted records off-chain on IPFS and anchor only the hash on the blockchain.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guarantee data integrity so that any tampering is immediately detectable.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enforce patient-controlled access through smart contracts rather than server policy.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allow patients to grant, reject and revoke doctor access at any time.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maintain an immutable audit trail of every access request, approval and denial.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ensure that neither the server nor an administrator can decrypt any medical record.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deploy the system as a public website usable from any browser with MetaMask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AA0677-7511-FF7E-83A9-800A097A1D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F5B8D16E-05B9-5646-E1B7-D21FAB254BD2}"/>
              </a:ext>
            </a:extLst>
          </p:cNvPr>
          <p:cNvSpPr txBox="1"/>
          <p:nvPr/>
        </p:nvSpPr>
        <p:spPr>
          <a:xfrm>
            <a:off x="2352084" y="2172202"/>
            <a:ext cx="4353516" cy="6903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453"/>
              </a:lnSpc>
            </a:pPr>
            <a:r>
              <a:rPr lang="en-US" sz="4544" b="1" dirty="0">
                <a:solidFill>
                  <a:srgbClr val="FF0000"/>
                </a:solidFill>
                <a:latin typeface="Aptos Bold"/>
                <a:ea typeface="Aptos Bold"/>
                <a:cs typeface="Aptos Bold"/>
                <a:sym typeface="Aptos Bold"/>
              </a:rPr>
              <a:t>System Architecture</a:t>
            </a:r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D2B99070-011A-667C-19AE-8D92CA6D65FC}"/>
              </a:ext>
            </a:extLst>
          </p:cNvPr>
          <p:cNvGrpSpPr/>
          <p:nvPr/>
        </p:nvGrpSpPr>
        <p:grpSpPr>
          <a:xfrm>
            <a:off x="2271255" y="176276"/>
            <a:ext cx="1371600" cy="1498478"/>
            <a:chOff x="0" y="0"/>
            <a:chExt cx="1300480" cy="1420780"/>
          </a:xfrm>
        </p:grpSpPr>
        <p:sp>
          <p:nvSpPr>
            <p:cNvPr id="5" name="Freeform 5" descr="Dr Shivabasava swamiji.jpg">
              <a:extLst>
                <a:ext uri="{FF2B5EF4-FFF2-40B4-BE49-F238E27FC236}">
                  <a16:creationId xmlns:a16="http://schemas.microsoft.com/office/drawing/2014/main" id="{D2427C94-5134-F3A9-8CA4-3648D3A34B23}"/>
                </a:ext>
              </a:extLst>
            </p:cNvPr>
            <p:cNvSpPr/>
            <p:nvPr/>
          </p:nvSpPr>
          <p:spPr>
            <a:xfrm>
              <a:off x="0" y="0"/>
              <a:ext cx="1300480" cy="1420830"/>
            </a:xfrm>
            <a:custGeom>
              <a:avLst/>
              <a:gdLst/>
              <a:ahLst/>
              <a:cxnLst/>
              <a:rect l="l" t="t" r="r" b="b"/>
              <a:pathLst>
                <a:path w="1300480" h="1420830">
                  <a:moveTo>
                    <a:pt x="0" y="0"/>
                  </a:moveTo>
                  <a:lnTo>
                    <a:pt x="1300480" y="0"/>
                  </a:lnTo>
                  <a:lnTo>
                    <a:pt x="1300480" y="1420830"/>
                  </a:lnTo>
                  <a:lnTo>
                    <a:pt x="0" y="14208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2215" b="-2211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C332AC5D-8769-3877-D443-ADC7A82C8EA8}"/>
              </a:ext>
            </a:extLst>
          </p:cNvPr>
          <p:cNvGrpSpPr/>
          <p:nvPr/>
        </p:nvGrpSpPr>
        <p:grpSpPr>
          <a:xfrm>
            <a:off x="3657600" y="0"/>
            <a:ext cx="10843750" cy="1637034"/>
            <a:chOff x="0" y="0"/>
            <a:chExt cx="10281481" cy="1552151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BB55ED99-262C-D469-2481-69C2732D0F80}"/>
                </a:ext>
              </a:extLst>
            </p:cNvPr>
            <p:cNvSpPr/>
            <p:nvPr/>
          </p:nvSpPr>
          <p:spPr>
            <a:xfrm>
              <a:off x="0" y="0"/>
              <a:ext cx="10187094" cy="1235009"/>
            </a:xfrm>
            <a:custGeom>
              <a:avLst/>
              <a:gdLst/>
              <a:ahLst/>
              <a:cxnLst/>
              <a:rect l="l" t="t" r="r" b="b"/>
              <a:pathLst>
                <a:path w="10187094" h="1235009">
                  <a:moveTo>
                    <a:pt x="0" y="0"/>
                  </a:moveTo>
                  <a:lnTo>
                    <a:pt x="10187094" y="0"/>
                  </a:lnTo>
                  <a:lnTo>
                    <a:pt x="10187094" y="1235009"/>
                  </a:lnTo>
                  <a:lnTo>
                    <a:pt x="0" y="123500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10724" b="-110723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C59D4C29-E9FB-3D1A-6720-D99A7AAB1D67}"/>
                </a:ext>
              </a:extLst>
            </p:cNvPr>
            <p:cNvSpPr txBox="1"/>
            <p:nvPr/>
          </p:nvSpPr>
          <p:spPr>
            <a:xfrm>
              <a:off x="94392" y="317147"/>
              <a:ext cx="10187089" cy="123500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329"/>
                </a:lnSpc>
              </a:pPr>
              <a:r>
                <a:rPr lang="en-US" sz="2774" b="1" spc="21" dirty="0">
                  <a:solidFill>
                    <a:srgbClr val="78206E"/>
                  </a:solidFill>
                  <a:latin typeface="TT Phobos Bold"/>
                  <a:ea typeface="TT Phobos Bold"/>
                  <a:cs typeface="TT Phobos Bold"/>
                  <a:sym typeface="TT Phobos Bold"/>
                </a:rPr>
                <a:t>SSET’s, S.G.Balekundri Institute of Technology, Belagavi, </a:t>
              </a:r>
            </a:p>
            <a:p>
              <a:pPr algn="ctr">
                <a:lnSpc>
                  <a:spcPts val="3329"/>
                </a:lnSpc>
              </a:pPr>
              <a:r>
                <a:rPr lang="en-US" sz="2774" b="1" spc="21" dirty="0">
                  <a:solidFill>
                    <a:srgbClr val="78206E"/>
                  </a:solidFill>
                  <a:latin typeface="TT Phobos Bold"/>
                  <a:ea typeface="TT Phobos Bold"/>
                  <a:cs typeface="TT Phobos Bold"/>
                  <a:sym typeface="TT Phobos Bold"/>
                </a:rPr>
                <a:t>Department of Computer Science &amp; Business Systems</a:t>
              </a:r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F39D000D-3602-EC98-828C-2A7B1FD0E947}"/>
              </a:ext>
            </a:extLst>
          </p:cNvPr>
          <p:cNvGrpSpPr/>
          <p:nvPr/>
        </p:nvGrpSpPr>
        <p:grpSpPr>
          <a:xfrm>
            <a:off x="14630400" y="176276"/>
            <a:ext cx="1227810" cy="1322255"/>
            <a:chOff x="0" y="0"/>
            <a:chExt cx="1164146" cy="1253693"/>
          </a:xfrm>
        </p:grpSpPr>
        <p:sp>
          <p:nvSpPr>
            <p:cNvPr id="10" name="Freeform 10" descr="sgbit logo.jpg">
              <a:extLst>
                <a:ext uri="{FF2B5EF4-FFF2-40B4-BE49-F238E27FC236}">
                  <a16:creationId xmlns:a16="http://schemas.microsoft.com/office/drawing/2014/main" id="{14AAFDDB-6347-F23E-1D35-180EEB312AAF}"/>
                </a:ext>
              </a:extLst>
            </p:cNvPr>
            <p:cNvSpPr/>
            <p:nvPr/>
          </p:nvSpPr>
          <p:spPr>
            <a:xfrm>
              <a:off x="0" y="0"/>
              <a:ext cx="1164082" cy="1253744"/>
            </a:xfrm>
            <a:custGeom>
              <a:avLst/>
              <a:gdLst/>
              <a:ahLst/>
              <a:cxnLst/>
              <a:rect l="l" t="t" r="r" b="b"/>
              <a:pathLst>
                <a:path w="1164082" h="1253744">
                  <a:moveTo>
                    <a:pt x="0" y="0"/>
                  </a:moveTo>
                  <a:lnTo>
                    <a:pt x="1164082" y="0"/>
                  </a:lnTo>
                  <a:lnTo>
                    <a:pt x="1164082" y="1253744"/>
                  </a:lnTo>
                  <a:lnTo>
                    <a:pt x="0" y="12537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3846" r="-3851" b="4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pic>
        <p:nvPicPr>
          <p:cNvPr id="11" name="Picture 10" descr="architectur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4356" y="1971525"/>
            <a:ext cx="7770243" cy="8140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82192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2352084" y="2172202"/>
            <a:ext cx="3439116" cy="6903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453"/>
              </a:lnSpc>
            </a:pPr>
            <a:r>
              <a:rPr lang="en-US" sz="4544" b="1" dirty="0">
                <a:solidFill>
                  <a:srgbClr val="FF0000"/>
                </a:solidFill>
                <a:latin typeface="Aptos Bold"/>
                <a:ea typeface="Aptos Bold"/>
                <a:cs typeface="Aptos Bold"/>
                <a:sym typeface="Aptos Bold"/>
              </a:rPr>
              <a:t>Methodology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2271255" y="176276"/>
            <a:ext cx="1371600" cy="1498478"/>
            <a:chOff x="0" y="0"/>
            <a:chExt cx="1300480" cy="1420780"/>
          </a:xfrm>
        </p:grpSpPr>
        <p:sp>
          <p:nvSpPr>
            <p:cNvPr id="5" name="Freeform 5" descr="Dr Shivabasava swamiji.jpg"/>
            <p:cNvSpPr/>
            <p:nvPr/>
          </p:nvSpPr>
          <p:spPr>
            <a:xfrm>
              <a:off x="0" y="0"/>
              <a:ext cx="1300480" cy="1420830"/>
            </a:xfrm>
            <a:custGeom>
              <a:avLst/>
              <a:gdLst/>
              <a:ahLst/>
              <a:cxnLst/>
              <a:rect l="l" t="t" r="r" b="b"/>
              <a:pathLst>
                <a:path w="1300480" h="1420830">
                  <a:moveTo>
                    <a:pt x="0" y="0"/>
                  </a:moveTo>
                  <a:lnTo>
                    <a:pt x="1300480" y="0"/>
                  </a:lnTo>
                  <a:lnTo>
                    <a:pt x="1300480" y="1420830"/>
                  </a:lnTo>
                  <a:lnTo>
                    <a:pt x="0" y="14208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2215" b="-2211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3657600" y="0"/>
            <a:ext cx="10843750" cy="1637034"/>
            <a:chOff x="0" y="0"/>
            <a:chExt cx="10281481" cy="1552151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0187094" cy="1235009"/>
            </a:xfrm>
            <a:custGeom>
              <a:avLst/>
              <a:gdLst/>
              <a:ahLst/>
              <a:cxnLst/>
              <a:rect l="l" t="t" r="r" b="b"/>
              <a:pathLst>
                <a:path w="10187094" h="1235009">
                  <a:moveTo>
                    <a:pt x="0" y="0"/>
                  </a:moveTo>
                  <a:lnTo>
                    <a:pt x="10187094" y="0"/>
                  </a:lnTo>
                  <a:lnTo>
                    <a:pt x="10187094" y="1235009"/>
                  </a:lnTo>
                  <a:lnTo>
                    <a:pt x="0" y="123500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10724" b="-110723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94392" y="317147"/>
              <a:ext cx="10187089" cy="123500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329"/>
                </a:lnSpc>
              </a:pPr>
              <a:r>
                <a:rPr lang="en-US" sz="2774" b="1" spc="21" dirty="0">
                  <a:solidFill>
                    <a:srgbClr val="78206E"/>
                  </a:solidFill>
                  <a:latin typeface="TT Phobos Bold"/>
                  <a:ea typeface="TT Phobos Bold"/>
                  <a:cs typeface="TT Phobos Bold"/>
                  <a:sym typeface="TT Phobos Bold"/>
                </a:rPr>
                <a:t>SSET’s, S.G.Balekundri Institute of Technology, Belagavi, </a:t>
              </a:r>
            </a:p>
            <a:p>
              <a:pPr algn="ctr">
                <a:lnSpc>
                  <a:spcPts val="3329"/>
                </a:lnSpc>
              </a:pPr>
              <a:r>
                <a:rPr lang="en-US" sz="2774" b="1" spc="21" dirty="0">
                  <a:solidFill>
                    <a:srgbClr val="78206E"/>
                  </a:solidFill>
                  <a:latin typeface="TT Phobos Bold"/>
                  <a:ea typeface="TT Phobos Bold"/>
                  <a:cs typeface="TT Phobos Bold"/>
                  <a:sym typeface="TT Phobos Bold"/>
                </a:rPr>
                <a:t>Department of Computer Science &amp; Business Systems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4630400" y="176276"/>
            <a:ext cx="1227810" cy="1322255"/>
            <a:chOff x="0" y="0"/>
            <a:chExt cx="1164146" cy="1253693"/>
          </a:xfrm>
        </p:grpSpPr>
        <p:sp>
          <p:nvSpPr>
            <p:cNvPr id="10" name="Freeform 10" descr="sgbit logo.jpg"/>
            <p:cNvSpPr/>
            <p:nvPr/>
          </p:nvSpPr>
          <p:spPr>
            <a:xfrm>
              <a:off x="0" y="0"/>
              <a:ext cx="1164082" cy="1253744"/>
            </a:xfrm>
            <a:custGeom>
              <a:avLst/>
              <a:gdLst/>
              <a:ahLst/>
              <a:cxnLst/>
              <a:rect l="l" t="t" r="r" b="b"/>
              <a:pathLst>
                <a:path w="1164082" h="1253744">
                  <a:moveTo>
                    <a:pt x="0" y="0"/>
                  </a:moveTo>
                  <a:lnTo>
                    <a:pt x="1164082" y="0"/>
                  </a:lnTo>
                  <a:lnTo>
                    <a:pt x="1164082" y="1253744"/>
                  </a:lnTo>
                  <a:lnTo>
                    <a:pt x="0" y="12537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3846" r="-3851" b="4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37E867CD-B18E-8ABA-0A9E-D9B3C562B0E4}"/>
              </a:ext>
            </a:extLst>
          </p:cNvPr>
          <p:cNvSpPr txBox="1"/>
          <p:nvPr/>
        </p:nvSpPr>
        <p:spPr>
          <a:xfrm>
            <a:off x="2241548" y="3732238"/>
            <a:ext cx="13576304" cy="58318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1  Patient selects a medical file in the browser.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2  File type and size are validated before processing.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3  A fresh 256-bit key encrypts the file using AES-256-GCM.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4  The ciphertext is uploaded to IPFS, which returns a Content Identifier (CID).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5  keccak256 of the ciphertext is computed as the integrity proof.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6  Hash, CID and metadata are committed on-chain in one signed transaction.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7  On confirmation, the data key is sealed to the patient's own public key.</a:t>
            </a:r>
          </a:p>
          <a:p>
            <a:pPr algn="just">
              <a:lnSpc>
                <a:spcPct val="150000"/>
              </a:lnSpc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8. The hash is taken over the ciphertext, so integrity can be verified by anyone holding the file, even without a decryption key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2352084" y="2172202"/>
            <a:ext cx="3439116" cy="6903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453"/>
              </a:lnSpc>
            </a:pPr>
            <a:r>
              <a:rPr lang="en-US" sz="4544" b="1" dirty="0">
                <a:solidFill>
                  <a:srgbClr val="FF0000"/>
                </a:solidFill>
                <a:latin typeface="Aptos Bold"/>
                <a:ea typeface="Aptos Bold"/>
                <a:cs typeface="Aptos Bold"/>
                <a:sym typeface="Aptos Bold"/>
              </a:rPr>
              <a:t>Technology Stack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2271255" y="176276"/>
            <a:ext cx="1371600" cy="1498478"/>
            <a:chOff x="0" y="0"/>
            <a:chExt cx="1300480" cy="1420780"/>
          </a:xfrm>
        </p:grpSpPr>
        <p:sp>
          <p:nvSpPr>
            <p:cNvPr id="5" name="Freeform 5" descr="Dr Shivabasava swamiji.jpg"/>
            <p:cNvSpPr/>
            <p:nvPr/>
          </p:nvSpPr>
          <p:spPr>
            <a:xfrm>
              <a:off x="0" y="0"/>
              <a:ext cx="1300480" cy="1420830"/>
            </a:xfrm>
            <a:custGeom>
              <a:avLst/>
              <a:gdLst/>
              <a:ahLst/>
              <a:cxnLst/>
              <a:rect l="l" t="t" r="r" b="b"/>
              <a:pathLst>
                <a:path w="1300480" h="1420830">
                  <a:moveTo>
                    <a:pt x="0" y="0"/>
                  </a:moveTo>
                  <a:lnTo>
                    <a:pt x="1300480" y="0"/>
                  </a:lnTo>
                  <a:lnTo>
                    <a:pt x="1300480" y="1420830"/>
                  </a:lnTo>
                  <a:lnTo>
                    <a:pt x="0" y="14208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2215" b="-2211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3657600" y="0"/>
            <a:ext cx="10843750" cy="1637034"/>
            <a:chOff x="0" y="0"/>
            <a:chExt cx="10281481" cy="1552151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0187094" cy="1235009"/>
            </a:xfrm>
            <a:custGeom>
              <a:avLst/>
              <a:gdLst/>
              <a:ahLst/>
              <a:cxnLst/>
              <a:rect l="l" t="t" r="r" b="b"/>
              <a:pathLst>
                <a:path w="10187094" h="1235009">
                  <a:moveTo>
                    <a:pt x="0" y="0"/>
                  </a:moveTo>
                  <a:lnTo>
                    <a:pt x="10187094" y="0"/>
                  </a:lnTo>
                  <a:lnTo>
                    <a:pt x="10187094" y="1235009"/>
                  </a:lnTo>
                  <a:lnTo>
                    <a:pt x="0" y="123500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10724" b="-110723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94392" y="317147"/>
              <a:ext cx="10187089" cy="123500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329"/>
                </a:lnSpc>
              </a:pPr>
              <a:r>
                <a:rPr lang="en-US" sz="2774" b="1" spc="21" dirty="0">
                  <a:solidFill>
                    <a:srgbClr val="78206E"/>
                  </a:solidFill>
                  <a:latin typeface="TT Phobos Bold"/>
                  <a:ea typeface="TT Phobos Bold"/>
                  <a:cs typeface="TT Phobos Bold"/>
                  <a:sym typeface="TT Phobos Bold"/>
                </a:rPr>
                <a:t>SSET’s, S.G.Balekundri Institute of Technology, Belagavi, </a:t>
              </a:r>
            </a:p>
            <a:p>
              <a:pPr algn="ctr">
                <a:lnSpc>
                  <a:spcPts val="3329"/>
                </a:lnSpc>
              </a:pPr>
              <a:r>
                <a:rPr lang="en-US" sz="2774" b="1" spc="21" dirty="0">
                  <a:solidFill>
                    <a:srgbClr val="78206E"/>
                  </a:solidFill>
                  <a:latin typeface="TT Phobos Bold"/>
                  <a:ea typeface="TT Phobos Bold"/>
                  <a:cs typeface="TT Phobos Bold"/>
                  <a:sym typeface="TT Phobos Bold"/>
                </a:rPr>
                <a:t>Department of Computer Science &amp; Business Systems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4630400" y="176276"/>
            <a:ext cx="1227810" cy="1322255"/>
            <a:chOff x="0" y="0"/>
            <a:chExt cx="1164146" cy="1253693"/>
          </a:xfrm>
        </p:grpSpPr>
        <p:sp>
          <p:nvSpPr>
            <p:cNvPr id="10" name="Freeform 10" descr="sgbit logo.jpg"/>
            <p:cNvSpPr/>
            <p:nvPr/>
          </p:nvSpPr>
          <p:spPr>
            <a:xfrm>
              <a:off x="0" y="0"/>
              <a:ext cx="1164082" cy="1253744"/>
            </a:xfrm>
            <a:custGeom>
              <a:avLst/>
              <a:gdLst/>
              <a:ahLst/>
              <a:cxnLst/>
              <a:rect l="l" t="t" r="r" b="b"/>
              <a:pathLst>
                <a:path w="1164082" h="1253744">
                  <a:moveTo>
                    <a:pt x="0" y="0"/>
                  </a:moveTo>
                  <a:lnTo>
                    <a:pt x="1164082" y="0"/>
                  </a:lnTo>
                  <a:lnTo>
                    <a:pt x="1164082" y="1253744"/>
                  </a:lnTo>
                  <a:lnTo>
                    <a:pt x="0" y="12537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3846" r="-3851" b="4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37E867CD-B18E-8ABA-0A9E-D9B3C562B0E4}"/>
              </a:ext>
            </a:extLst>
          </p:cNvPr>
          <p:cNvSpPr txBox="1"/>
          <p:nvPr/>
        </p:nvSpPr>
        <p:spPr>
          <a:xfrm>
            <a:off x="2340460" y="4076700"/>
            <a:ext cx="13576304" cy="51855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Frontend:  React 18, Vite, Tailwind CSS, ethers.js v6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Backend:  Node.js, Express, JWT authentication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Blockchain:  Solidity 0.8.24, Hardhat, Ethereum Sepolia testnet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Wallet:  MetaMask for identity and transaction signing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Off-chain storage:  IPFS through the Pinata pinning service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Database:  MongoDB Atlas for metadata and sealed key envelopes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Cryptography:  Web Crypto API (AES-GCM), @noble/secp256k1 (ECIES)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Deployment:  Vercel (frontend), Render (backend), Sepolia (contract)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2352084" y="2172202"/>
            <a:ext cx="9839916" cy="6903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453"/>
              </a:lnSpc>
            </a:pPr>
            <a:r>
              <a:rPr lang="en-US" sz="4544" b="1" dirty="0">
                <a:solidFill>
                  <a:srgbClr val="FF0000"/>
                </a:solidFill>
                <a:latin typeface="Aptos Bold"/>
                <a:ea typeface="Aptos Bold"/>
                <a:cs typeface="Aptos Bold"/>
                <a:sym typeface="Aptos Bold"/>
              </a:rPr>
              <a:t>Smart contract design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2271255" y="176276"/>
            <a:ext cx="1371600" cy="1498478"/>
            <a:chOff x="0" y="0"/>
            <a:chExt cx="1300480" cy="1420780"/>
          </a:xfrm>
        </p:grpSpPr>
        <p:sp>
          <p:nvSpPr>
            <p:cNvPr id="5" name="Freeform 5" descr="Dr Shivabasava swamiji.jpg"/>
            <p:cNvSpPr/>
            <p:nvPr/>
          </p:nvSpPr>
          <p:spPr>
            <a:xfrm>
              <a:off x="0" y="0"/>
              <a:ext cx="1300480" cy="1420830"/>
            </a:xfrm>
            <a:custGeom>
              <a:avLst/>
              <a:gdLst/>
              <a:ahLst/>
              <a:cxnLst/>
              <a:rect l="l" t="t" r="r" b="b"/>
              <a:pathLst>
                <a:path w="1300480" h="1420830">
                  <a:moveTo>
                    <a:pt x="0" y="0"/>
                  </a:moveTo>
                  <a:lnTo>
                    <a:pt x="1300480" y="0"/>
                  </a:lnTo>
                  <a:lnTo>
                    <a:pt x="1300480" y="1420830"/>
                  </a:lnTo>
                  <a:lnTo>
                    <a:pt x="0" y="14208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2215" b="-2211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3657600" y="0"/>
            <a:ext cx="10843750" cy="1637034"/>
            <a:chOff x="0" y="0"/>
            <a:chExt cx="10281481" cy="1552151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0187094" cy="1235009"/>
            </a:xfrm>
            <a:custGeom>
              <a:avLst/>
              <a:gdLst/>
              <a:ahLst/>
              <a:cxnLst/>
              <a:rect l="l" t="t" r="r" b="b"/>
              <a:pathLst>
                <a:path w="10187094" h="1235009">
                  <a:moveTo>
                    <a:pt x="0" y="0"/>
                  </a:moveTo>
                  <a:lnTo>
                    <a:pt x="10187094" y="0"/>
                  </a:lnTo>
                  <a:lnTo>
                    <a:pt x="10187094" y="1235009"/>
                  </a:lnTo>
                  <a:lnTo>
                    <a:pt x="0" y="123500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10724" b="-110723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94392" y="317147"/>
              <a:ext cx="10187089" cy="123500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329"/>
                </a:lnSpc>
              </a:pPr>
              <a:r>
                <a:rPr lang="en-US" sz="2774" b="1" spc="21" dirty="0">
                  <a:solidFill>
                    <a:srgbClr val="78206E"/>
                  </a:solidFill>
                  <a:latin typeface="TT Phobos Bold"/>
                  <a:ea typeface="TT Phobos Bold"/>
                  <a:cs typeface="TT Phobos Bold"/>
                  <a:sym typeface="TT Phobos Bold"/>
                </a:rPr>
                <a:t>SSET’s, S.G.Balekundri Institute of Technology, Belagavi, </a:t>
              </a:r>
            </a:p>
            <a:p>
              <a:pPr algn="ctr">
                <a:lnSpc>
                  <a:spcPts val="3329"/>
                </a:lnSpc>
              </a:pPr>
              <a:r>
                <a:rPr lang="en-US" sz="2774" b="1" spc="21" dirty="0">
                  <a:solidFill>
                    <a:srgbClr val="78206E"/>
                  </a:solidFill>
                  <a:latin typeface="TT Phobos Bold"/>
                  <a:ea typeface="TT Phobos Bold"/>
                  <a:cs typeface="TT Phobos Bold"/>
                  <a:sym typeface="TT Phobos Bold"/>
                </a:rPr>
                <a:t>Department of Computer Science &amp; Business Systems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4630400" y="176276"/>
            <a:ext cx="1227810" cy="1322255"/>
            <a:chOff x="0" y="0"/>
            <a:chExt cx="1164146" cy="1253693"/>
          </a:xfrm>
        </p:grpSpPr>
        <p:sp>
          <p:nvSpPr>
            <p:cNvPr id="10" name="Freeform 10" descr="sgbit logo.jpg"/>
            <p:cNvSpPr/>
            <p:nvPr/>
          </p:nvSpPr>
          <p:spPr>
            <a:xfrm>
              <a:off x="0" y="0"/>
              <a:ext cx="1164082" cy="1253744"/>
            </a:xfrm>
            <a:custGeom>
              <a:avLst/>
              <a:gdLst/>
              <a:ahLst/>
              <a:cxnLst/>
              <a:rect l="l" t="t" r="r" b="b"/>
              <a:pathLst>
                <a:path w="1164082" h="1253744">
                  <a:moveTo>
                    <a:pt x="0" y="0"/>
                  </a:moveTo>
                  <a:lnTo>
                    <a:pt x="1164082" y="0"/>
                  </a:lnTo>
                  <a:lnTo>
                    <a:pt x="1164082" y="1253744"/>
                  </a:lnTo>
                  <a:lnTo>
                    <a:pt x="0" y="12537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3846" r="-3851" b="4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37E867CD-B18E-8ABA-0A9E-D9B3C562B0E4}"/>
              </a:ext>
            </a:extLst>
          </p:cNvPr>
          <p:cNvSpPr txBox="1"/>
          <p:nvPr/>
        </p:nvSpPr>
        <p:spPr>
          <a:xfrm>
            <a:off x="1905000" y="3732238"/>
            <a:ext cx="13576304" cy="51855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MedicalRecord.sol stores identities, record metadata, permissions and audit events.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Core functions:  registerPatient, registerDoctor, uploadRecord, requestAccess, approveRequest, rejectRequest, grantAccess, revokeAccess, hasAccess.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 modifiers:  onlyPatient, onlyDoctor, onlyRecordOwner, onlyAdmin, validAddress.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Audit events:  RecordUploaded, AccessRequested, AccessGranted, AccessRejected, AccessRevoked, AccessDenied,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RecordViewed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Records are never deleted. deactivateRecord flags them inactive so history stays verifiable.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2352084" y="2172202"/>
            <a:ext cx="8620716" cy="6903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453"/>
              </a:lnSpc>
            </a:pPr>
            <a:r>
              <a:rPr lang="en-US" sz="4544" b="1" dirty="0">
                <a:solidFill>
                  <a:srgbClr val="FF0000"/>
                </a:solidFill>
                <a:latin typeface="Aptos Bold"/>
                <a:ea typeface="Aptos Bold"/>
                <a:cs typeface="Aptos Bold"/>
                <a:sym typeface="Aptos Bold"/>
              </a:rPr>
              <a:t>Security &amp; Key Management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2271255" y="176276"/>
            <a:ext cx="1371600" cy="1498478"/>
            <a:chOff x="0" y="0"/>
            <a:chExt cx="1300480" cy="1420780"/>
          </a:xfrm>
        </p:grpSpPr>
        <p:sp>
          <p:nvSpPr>
            <p:cNvPr id="5" name="Freeform 5" descr="Dr Shivabasava swamiji.jpg"/>
            <p:cNvSpPr/>
            <p:nvPr/>
          </p:nvSpPr>
          <p:spPr>
            <a:xfrm>
              <a:off x="0" y="0"/>
              <a:ext cx="1300480" cy="1420830"/>
            </a:xfrm>
            <a:custGeom>
              <a:avLst/>
              <a:gdLst/>
              <a:ahLst/>
              <a:cxnLst/>
              <a:rect l="l" t="t" r="r" b="b"/>
              <a:pathLst>
                <a:path w="1300480" h="1420830">
                  <a:moveTo>
                    <a:pt x="0" y="0"/>
                  </a:moveTo>
                  <a:lnTo>
                    <a:pt x="1300480" y="0"/>
                  </a:lnTo>
                  <a:lnTo>
                    <a:pt x="1300480" y="1420830"/>
                  </a:lnTo>
                  <a:lnTo>
                    <a:pt x="0" y="14208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2215" b="-2211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3657600" y="0"/>
            <a:ext cx="10843750" cy="1637034"/>
            <a:chOff x="0" y="0"/>
            <a:chExt cx="10281481" cy="1552151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0187094" cy="1235009"/>
            </a:xfrm>
            <a:custGeom>
              <a:avLst/>
              <a:gdLst/>
              <a:ahLst/>
              <a:cxnLst/>
              <a:rect l="l" t="t" r="r" b="b"/>
              <a:pathLst>
                <a:path w="10187094" h="1235009">
                  <a:moveTo>
                    <a:pt x="0" y="0"/>
                  </a:moveTo>
                  <a:lnTo>
                    <a:pt x="10187094" y="0"/>
                  </a:lnTo>
                  <a:lnTo>
                    <a:pt x="10187094" y="1235009"/>
                  </a:lnTo>
                  <a:lnTo>
                    <a:pt x="0" y="123500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10724" b="-110723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94392" y="317147"/>
              <a:ext cx="10187089" cy="123500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329"/>
                </a:lnSpc>
              </a:pPr>
              <a:r>
                <a:rPr lang="en-US" sz="2774" b="1" spc="21" dirty="0">
                  <a:solidFill>
                    <a:srgbClr val="78206E"/>
                  </a:solidFill>
                  <a:latin typeface="TT Phobos Bold"/>
                  <a:ea typeface="TT Phobos Bold"/>
                  <a:cs typeface="TT Phobos Bold"/>
                  <a:sym typeface="TT Phobos Bold"/>
                </a:rPr>
                <a:t>SSET’s, S.G.Balekundri Institute of Technology, Belagavi, </a:t>
              </a:r>
            </a:p>
            <a:p>
              <a:pPr algn="ctr">
                <a:lnSpc>
                  <a:spcPts val="3329"/>
                </a:lnSpc>
              </a:pPr>
              <a:r>
                <a:rPr lang="en-US" sz="2774" b="1" spc="21" dirty="0">
                  <a:solidFill>
                    <a:srgbClr val="78206E"/>
                  </a:solidFill>
                  <a:latin typeface="TT Phobos Bold"/>
                  <a:ea typeface="TT Phobos Bold"/>
                  <a:cs typeface="TT Phobos Bold"/>
                  <a:sym typeface="TT Phobos Bold"/>
                </a:rPr>
                <a:t>Department of Computer Science &amp; Business Systems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4630400" y="176276"/>
            <a:ext cx="1227810" cy="1322255"/>
            <a:chOff x="0" y="0"/>
            <a:chExt cx="1164146" cy="1253693"/>
          </a:xfrm>
        </p:grpSpPr>
        <p:sp>
          <p:nvSpPr>
            <p:cNvPr id="10" name="Freeform 10" descr="sgbit logo.jpg"/>
            <p:cNvSpPr/>
            <p:nvPr/>
          </p:nvSpPr>
          <p:spPr>
            <a:xfrm>
              <a:off x="0" y="0"/>
              <a:ext cx="1164082" cy="1253744"/>
            </a:xfrm>
            <a:custGeom>
              <a:avLst/>
              <a:gdLst/>
              <a:ahLst/>
              <a:cxnLst/>
              <a:rect l="l" t="t" r="r" b="b"/>
              <a:pathLst>
                <a:path w="1164082" h="1253744">
                  <a:moveTo>
                    <a:pt x="0" y="0"/>
                  </a:moveTo>
                  <a:lnTo>
                    <a:pt x="1164082" y="0"/>
                  </a:lnTo>
                  <a:lnTo>
                    <a:pt x="1164082" y="1253744"/>
                  </a:lnTo>
                  <a:lnTo>
                    <a:pt x="0" y="12537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3846" r="-3851" b="4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37E867CD-B18E-8ABA-0A9E-D9B3C562B0E4}"/>
              </a:ext>
            </a:extLst>
          </p:cNvPr>
          <p:cNvSpPr txBox="1"/>
          <p:nvPr/>
        </p:nvSpPr>
        <p:spPr>
          <a:xfrm>
            <a:off x="2057400" y="3387553"/>
            <a:ext cx="13576304" cy="55659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Wallet-derived encryption key:  MetaMask refuses to export a private key, so the system derives one. The user signs a fixed message; because wallet ECDSA is deterministic (RFC 6979), that signature is stable, and hashing it yields a reproducible secp256k1 keypair. The private key exists only in memory; the server learns only the public half.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Per-record keys:  each record is encrypted under its own random AES-256 key, which is sealed to a recipient using ECIES (ephemeral ECDH, HKDF-SHA256, AES-GCM).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Two-gate access:  reading a record requires both an on-chain permission and a key envelope sealed to the reader. Revoking either gate alone is sufficient to deny access.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2352084" y="2172202"/>
            <a:ext cx="9382716" cy="6903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453"/>
              </a:lnSpc>
            </a:pPr>
            <a:r>
              <a:rPr lang="en-US" sz="4544" b="1" dirty="0">
                <a:solidFill>
                  <a:srgbClr val="FF0000"/>
                </a:solidFill>
                <a:latin typeface="Aptos Bold"/>
                <a:ea typeface="Aptos Bold"/>
                <a:cs typeface="Aptos Bold"/>
                <a:sym typeface="Aptos Bold"/>
              </a:rPr>
              <a:t>Implementation &amp; Deployment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2271255" y="176276"/>
            <a:ext cx="1371600" cy="1498478"/>
            <a:chOff x="0" y="0"/>
            <a:chExt cx="1300480" cy="1420780"/>
          </a:xfrm>
        </p:grpSpPr>
        <p:sp>
          <p:nvSpPr>
            <p:cNvPr id="5" name="Freeform 5" descr="Dr Shivabasava swamiji.jpg"/>
            <p:cNvSpPr/>
            <p:nvPr/>
          </p:nvSpPr>
          <p:spPr>
            <a:xfrm>
              <a:off x="0" y="0"/>
              <a:ext cx="1300480" cy="1420830"/>
            </a:xfrm>
            <a:custGeom>
              <a:avLst/>
              <a:gdLst/>
              <a:ahLst/>
              <a:cxnLst/>
              <a:rect l="l" t="t" r="r" b="b"/>
              <a:pathLst>
                <a:path w="1300480" h="1420830">
                  <a:moveTo>
                    <a:pt x="0" y="0"/>
                  </a:moveTo>
                  <a:lnTo>
                    <a:pt x="1300480" y="0"/>
                  </a:lnTo>
                  <a:lnTo>
                    <a:pt x="1300480" y="1420830"/>
                  </a:lnTo>
                  <a:lnTo>
                    <a:pt x="0" y="14208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2215" b="-2211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3657600" y="0"/>
            <a:ext cx="10843750" cy="1637034"/>
            <a:chOff x="0" y="0"/>
            <a:chExt cx="10281481" cy="1552151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0187094" cy="1235009"/>
            </a:xfrm>
            <a:custGeom>
              <a:avLst/>
              <a:gdLst/>
              <a:ahLst/>
              <a:cxnLst/>
              <a:rect l="l" t="t" r="r" b="b"/>
              <a:pathLst>
                <a:path w="10187094" h="1235009">
                  <a:moveTo>
                    <a:pt x="0" y="0"/>
                  </a:moveTo>
                  <a:lnTo>
                    <a:pt x="10187094" y="0"/>
                  </a:lnTo>
                  <a:lnTo>
                    <a:pt x="10187094" y="1235009"/>
                  </a:lnTo>
                  <a:lnTo>
                    <a:pt x="0" y="123500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10724" b="-110723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94392" y="317147"/>
              <a:ext cx="10187089" cy="123500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329"/>
                </a:lnSpc>
              </a:pPr>
              <a:r>
                <a:rPr lang="en-US" sz="2774" b="1" spc="21" dirty="0">
                  <a:solidFill>
                    <a:srgbClr val="78206E"/>
                  </a:solidFill>
                  <a:latin typeface="TT Phobos Bold"/>
                  <a:ea typeface="TT Phobos Bold"/>
                  <a:cs typeface="TT Phobos Bold"/>
                  <a:sym typeface="TT Phobos Bold"/>
                </a:rPr>
                <a:t>SSET’s, S.G.Balekundri Institute of Technology, Belagavi, </a:t>
              </a:r>
            </a:p>
            <a:p>
              <a:pPr algn="ctr">
                <a:lnSpc>
                  <a:spcPts val="3329"/>
                </a:lnSpc>
              </a:pPr>
              <a:r>
                <a:rPr lang="en-US" sz="2774" b="1" spc="21" dirty="0">
                  <a:solidFill>
                    <a:srgbClr val="78206E"/>
                  </a:solidFill>
                  <a:latin typeface="TT Phobos Bold"/>
                  <a:ea typeface="TT Phobos Bold"/>
                  <a:cs typeface="TT Phobos Bold"/>
                  <a:sym typeface="TT Phobos Bold"/>
                </a:rPr>
                <a:t>Department of Computer Science &amp; Business Systems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4630400" y="176276"/>
            <a:ext cx="1227810" cy="1322255"/>
            <a:chOff x="0" y="0"/>
            <a:chExt cx="1164146" cy="1253693"/>
          </a:xfrm>
        </p:grpSpPr>
        <p:sp>
          <p:nvSpPr>
            <p:cNvPr id="10" name="Freeform 10" descr="sgbit logo.jpg"/>
            <p:cNvSpPr/>
            <p:nvPr/>
          </p:nvSpPr>
          <p:spPr>
            <a:xfrm>
              <a:off x="0" y="0"/>
              <a:ext cx="1164082" cy="1253744"/>
            </a:xfrm>
            <a:custGeom>
              <a:avLst/>
              <a:gdLst/>
              <a:ahLst/>
              <a:cxnLst/>
              <a:rect l="l" t="t" r="r" b="b"/>
              <a:pathLst>
                <a:path w="1164082" h="1253744">
                  <a:moveTo>
                    <a:pt x="0" y="0"/>
                  </a:moveTo>
                  <a:lnTo>
                    <a:pt x="1164082" y="0"/>
                  </a:lnTo>
                  <a:lnTo>
                    <a:pt x="1164082" y="1253744"/>
                  </a:lnTo>
                  <a:lnTo>
                    <a:pt x="0" y="12537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3846" r="-3851" b="4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37E867CD-B18E-8ABA-0A9E-D9B3C562B0E4}"/>
              </a:ext>
            </a:extLst>
          </p:cNvPr>
          <p:cNvSpPr txBox="1"/>
          <p:nvPr/>
        </p:nvSpPr>
        <p:spPr>
          <a:xfrm>
            <a:off x="2514600" y="3400981"/>
            <a:ext cx="13576304" cy="51855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is deployed publicly and is reachable from any laptop with a browser and MetaMask.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Website:  medchain-records.vercel.app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 API:  medchain-api-j6hv.onrender.com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contract:  0xAE246FCcad4F7aF88C1c6B3d17FaF2105D345824  (Ethereum Sepolia)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Verification:  29 smart contract unit tests and 56 full-stack integration assertions all pass. Deployed bytecode is 17,046 bytes, within the 24,576-byte EIP-170 limit.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3D9CE2-A6C8-B282-D2D7-C32C952DB4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F1FD1A2D-7AC0-7B3C-1E80-3B084188F2E2}"/>
              </a:ext>
            </a:extLst>
          </p:cNvPr>
          <p:cNvSpPr txBox="1"/>
          <p:nvPr/>
        </p:nvSpPr>
        <p:spPr>
          <a:xfrm>
            <a:off x="2304835" y="2204602"/>
            <a:ext cx="3439116" cy="6903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453"/>
              </a:lnSpc>
            </a:pPr>
            <a:r>
              <a:rPr lang="en-US" sz="4544" b="1" dirty="0">
                <a:solidFill>
                  <a:srgbClr val="FF0000"/>
                </a:solidFill>
                <a:latin typeface="Aptos Bold"/>
                <a:ea typeface="Aptos Bold"/>
                <a:cs typeface="Aptos Bold"/>
                <a:sym typeface="Aptos Bold"/>
              </a:rPr>
              <a:t>Result</a:t>
            </a:r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49678C58-0E44-CD7A-CEBF-BAC714AAF255}"/>
              </a:ext>
            </a:extLst>
          </p:cNvPr>
          <p:cNvGrpSpPr/>
          <p:nvPr/>
        </p:nvGrpSpPr>
        <p:grpSpPr>
          <a:xfrm>
            <a:off x="2271255" y="176276"/>
            <a:ext cx="1371600" cy="1498478"/>
            <a:chOff x="0" y="0"/>
            <a:chExt cx="1300480" cy="1420780"/>
          </a:xfrm>
        </p:grpSpPr>
        <p:sp>
          <p:nvSpPr>
            <p:cNvPr id="5" name="Freeform 5" descr="Dr Shivabasava swamiji.jpg">
              <a:extLst>
                <a:ext uri="{FF2B5EF4-FFF2-40B4-BE49-F238E27FC236}">
                  <a16:creationId xmlns:a16="http://schemas.microsoft.com/office/drawing/2014/main" id="{E81C191C-D903-48FA-4F4F-580654438096}"/>
                </a:ext>
              </a:extLst>
            </p:cNvPr>
            <p:cNvSpPr/>
            <p:nvPr/>
          </p:nvSpPr>
          <p:spPr>
            <a:xfrm>
              <a:off x="0" y="0"/>
              <a:ext cx="1300480" cy="1420830"/>
            </a:xfrm>
            <a:custGeom>
              <a:avLst/>
              <a:gdLst/>
              <a:ahLst/>
              <a:cxnLst/>
              <a:rect l="l" t="t" r="r" b="b"/>
              <a:pathLst>
                <a:path w="1300480" h="1420830">
                  <a:moveTo>
                    <a:pt x="0" y="0"/>
                  </a:moveTo>
                  <a:lnTo>
                    <a:pt x="1300480" y="0"/>
                  </a:lnTo>
                  <a:lnTo>
                    <a:pt x="1300480" y="1420830"/>
                  </a:lnTo>
                  <a:lnTo>
                    <a:pt x="0" y="14208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2215" b="-2211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ED4D4E77-E13A-7728-AEEF-EEC62060D534}"/>
              </a:ext>
            </a:extLst>
          </p:cNvPr>
          <p:cNvGrpSpPr/>
          <p:nvPr/>
        </p:nvGrpSpPr>
        <p:grpSpPr>
          <a:xfrm>
            <a:off x="3657600" y="0"/>
            <a:ext cx="10843750" cy="1637034"/>
            <a:chOff x="0" y="0"/>
            <a:chExt cx="10281481" cy="1552151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0CD78061-574F-6399-FC70-9D10666C2D0D}"/>
                </a:ext>
              </a:extLst>
            </p:cNvPr>
            <p:cNvSpPr/>
            <p:nvPr/>
          </p:nvSpPr>
          <p:spPr>
            <a:xfrm>
              <a:off x="0" y="0"/>
              <a:ext cx="10187094" cy="1235009"/>
            </a:xfrm>
            <a:custGeom>
              <a:avLst/>
              <a:gdLst/>
              <a:ahLst/>
              <a:cxnLst/>
              <a:rect l="l" t="t" r="r" b="b"/>
              <a:pathLst>
                <a:path w="10187094" h="1235009">
                  <a:moveTo>
                    <a:pt x="0" y="0"/>
                  </a:moveTo>
                  <a:lnTo>
                    <a:pt x="10187094" y="0"/>
                  </a:lnTo>
                  <a:lnTo>
                    <a:pt x="10187094" y="1235009"/>
                  </a:lnTo>
                  <a:lnTo>
                    <a:pt x="0" y="123500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10724" b="-110723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8F40C22F-5E5F-030B-B448-67B0FB4423DF}"/>
                </a:ext>
              </a:extLst>
            </p:cNvPr>
            <p:cNvSpPr txBox="1"/>
            <p:nvPr/>
          </p:nvSpPr>
          <p:spPr>
            <a:xfrm>
              <a:off x="94392" y="317147"/>
              <a:ext cx="10187089" cy="123500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329"/>
                </a:lnSpc>
              </a:pPr>
              <a:r>
                <a:rPr lang="en-US" sz="2774" b="1" spc="21" dirty="0">
                  <a:solidFill>
                    <a:srgbClr val="78206E"/>
                  </a:solidFill>
                  <a:latin typeface="TT Phobos Bold"/>
                  <a:ea typeface="TT Phobos Bold"/>
                  <a:cs typeface="TT Phobos Bold"/>
                  <a:sym typeface="TT Phobos Bold"/>
                </a:rPr>
                <a:t>SSET’s, S.G.Balekundri Institute of Technology, Belagavi, </a:t>
              </a:r>
            </a:p>
            <a:p>
              <a:pPr algn="ctr">
                <a:lnSpc>
                  <a:spcPts val="3329"/>
                </a:lnSpc>
              </a:pPr>
              <a:r>
                <a:rPr lang="en-US" sz="2774" b="1" spc="21" dirty="0">
                  <a:solidFill>
                    <a:srgbClr val="78206E"/>
                  </a:solidFill>
                  <a:latin typeface="TT Phobos Bold"/>
                  <a:ea typeface="TT Phobos Bold"/>
                  <a:cs typeface="TT Phobos Bold"/>
                  <a:sym typeface="TT Phobos Bold"/>
                </a:rPr>
                <a:t>Department of Computer Science &amp; Business Systems</a:t>
              </a:r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D505EA09-A97D-A84F-27FE-C8ECF105F740}"/>
              </a:ext>
            </a:extLst>
          </p:cNvPr>
          <p:cNvGrpSpPr/>
          <p:nvPr/>
        </p:nvGrpSpPr>
        <p:grpSpPr>
          <a:xfrm>
            <a:off x="14630400" y="176276"/>
            <a:ext cx="1227810" cy="1322255"/>
            <a:chOff x="0" y="0"/>
            <a:chExt cx="1164146" cy="1253693"/>
          </a:xfrm>
        </p:grpSpPr>
        <p:sp>
          <p:nvSpPr>
            <p:cNvPr id="10" name="Freeform 10" descr="sgbit logo.jpg">
              <a:extLst>
                <a:ext uri="{FF2B5EF4-FFF2-40B4-BE49-F238E27FC236}">
                  <a16:creationId xmlns:a16="http://schemas.microsoft.com/office/drawing/2014/main" id="{AE10A157-063B-787F-F56B-C800A7112292}"/>
                </a:ext>
              </a:extLst>
            </p:cNvPr>
            <p:cNvSpPr/>
            <p:nvPr/>
          </p:nvSpPr>
          <p:spPr>
            <a:xfrm>
              <a:off x="0" y="0"/>
              <a:ext cx="1164082" cy="1253744"/>
            </a:xfrm>
            <a:custGeom>
              <a:avLst/>
              <a:gdLst/>
              <a:ahLst/>
              <a:cxnLst/>
              <a:rect l="l" t="t" r="r" b="b"/>
              <a:pathLst>
                <a:path w="1164082" h="1253744">
                  <a:moveTo>
                    <a:pt x="0" y="0"/>
                  </a:moveTo>
                  <a:lnTo>
                    <a:pt x="1164082" y="0"/>
                  </a:lnTo>
                  <a:lnTo>
                    <a:pt x="1164082" y="1253744"/>
                  </a:lnTo>
                  <a:lnTo>
                    <a:pt x="0" y="12537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3846" r="-3851" b="4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50EBEE59-3384-C232-ACC1-1E1C8C6382BA}"/>
              </a:ext>
            </a:extLst>
          </p:cNvPr>
          <p:cNvSpPr txBox="1"/>
          <p:nvPr/>
        </p:nvSpPr>
        <p:spPr>
          <a:xfrm>
            <a:off x="2057400" y="2909837"/>
            <a:ext cx="13421316" cy="72279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was implemented, deployed and tested end to end on a public Ethereum testnet.</a:t>
            </a:r>
          </a:p>
          <a:p>
            <a:pPr algn="just">
              <a:lnSpc>
                <a:spcPct val="150000"/>
              </a:lnSpc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Patients successfully uploaded records that were encrypted in the browser, pinned to IPFS and anchored on-chain. Integrity verification confirmed that every retrieved file hashed to exactly the value recorded on the blockchain.</a:t>
            </a:r>
          </a:p>
          <a:p>
            <a:pPr algn="just">
              <a:lnSpc>
                <a:spcPct val="150000"/>
              </a:lnSpc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Access control behaved as designed under adversarial testing. An unauthorised doctor was refused by the smart contract and by the API independently, and the attempt was logged on-chain as an AccessDenied event. After the patient approved the request the same doctor could decrypt the record, and after revocation access was denied immediately.</a:t>
            </a:r>
          </a:p>
          <a:p>
            <a:pPr algn="just">
              <a:lnSpc>
                <a:spcPct val="150000"/>
              </a:lnSpc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Administrators could view record metadata and system activity but could not decrypt any medical content, confirming that confidentiality does not depend on administrator trust.</a:t>
            </a:r>
          </a:p>
        </p:txBody>
      </p:sp>
    </p:spTree>
    <p:extLst>
      <p:ext uri="{BB962C8B-B14F-4D97-AF65-F5344CB8AC3E}">
        <p14:creationId xmlns:p14="http://schemas.microsoft.com/office/powerpoint/2010/main" val="6596088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271252" y="238114"/>
            <a:ext cx="1371600" cy="1498478"/>
            <a:chOff x="0" y="0"/>
            <a:chExt cx="1300480" cy="1420780"/>
          </a:xfrm>
        </p:grpSpPr>
        <p:sp>
          <p:nvSpPr>
            <p:cNvPr id="3" name="Freeform 3" descr="Dr Shivabasava swamiji.jpg"/>
            <p:cNvSpPr/>
            <p:nvPr/>
          </p:nvSpPr>
          <p:spPr>
            <a:xfrm>
              <a:off x="0" y="0"/>
              <a:ext cx="1300480" cy="1420830"/>
            </a:xfrm>
            <a:custGeom>
              <a:avLst/>
              <a:gdLst/>
              <a:ahLst/>
              <a:cxnLst/>
              <a:rect l="l" t="t" r="r" b="b"/>
              <a:pathLst>
                <a:path w="1300480" h="1420830">
                  <a:moveTo>
                    <a:pt x="0" y="0"/>
                  </a:moveTo>
                  <a:lnTo>
                    <a:pt x="1300480" y="0"/>
                  </a:lnTo>
                  <a:lnTo>
                    <a:pt x="1300480" y="1420830"/>
                  </a:lnTo>
                  <a:lnTo>
                    <a:pt x="0" y="14208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2215" b="-2211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4630395" y="243980"/>
            <a:ext cx="1227810" cy="1322255"/>
            <a:chOff x="0" y="0"/>
            <a:chExt cx="1164146" cy="1253693"/>
          </a:xfrm>
        </p:grpSpPr>
        <p:sp>
          <p:nvSpPr>
            <p:cNvPr id="5" name="Freeform 5" descr="sgbit logo.jpg"/>
            <p:cNvSpPr/>
            <p:nvPr/>
          </p:nvSpPr>
          <p:spPr>
            <a:xfrm>
              <a:off x="0" y="0"/>
              <a:ext cx="1164082" cy="1253744"/>
            </a:xfrm>
            <a:custGeom>
              <a:avLst/>
              <a:gdLst/>
              <a:ahLst/>
              <a:cxnLst/>
              <a:rect l="l" t="t" r="r" b="b"/>
              <a:pathLst>
                <a:path w="1164082" h="1253744">
                  <a:moveTo>
                    <a:pt x="0" y="0"/>
                  </a:moveTo>
                  <a:lnTo>
                    <a:pt x="1164082" y="0"/>
                  </a:lnTo>
                  <a:lnTo>
                    <a:pt x="1164082" y="1253744"/>
                  </a:lnTo>
                  <a:lnTo>
                    <a:pt x="0" y="12537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3846" r="-3851" b="4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3657600" y="0"/>
            <a:ext cx="10744201" cy="1508082"/>
            <a:chOff x="0" y="0"/>
            <a:chExt cx="10187094" cy="142988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0187094" cy="1235009"/>
            </a:xfrm>
            <a:custGeom>
              <a:avLst/>
              <a:gdLst/>
              <a:ahLst/>
              <a:cxnLst/>
              <a:rect l="l" t="t" r="r" b="b"/>
              <a:pathLst>
                <a:path w="10187094" h="1235009">
                  <a:moveTo>
                    <a:pt x="0" y="0"/>
                  </a:moveTo>
                  <a:lnTo>
                    <a:pt x="10187094" y="0"/>
                  </a:lnTo>
                  <a:lnTo>
                    <a:pt x="10187094" y="1235009"/>
                  </a:lnTo>
                  <a:lnTo>
                    <a:pt x="0" y="123500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10724" b="-110723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5" y="194881"/>
              <a:ext cx="10187089" cy="123500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329"/>
                </a:lnSpc>
              </a:pPr>
              <a:r>
                <a:rPr lang="en-US" sz="2774" b="1" spc="21" dirty="0">
                  <a:solidFill>
                    <a:srgbClr val="78206E"/>
                  </a:solidFill>
                  <a:latin typeface="TT Phobos Bold"/>
                  <a:ea typeface="TT Phobos Bold"/>
                  <a:cs typeface="TT Phobos Bold"/>
                  <a:sym typeface="TT Phobos Bold"/>
                </a:rPr>
                <a:t>SSET’s, S.G.Balekundri Institute of Technology, Belagavi, </a:t>
              </a:r>
            </a:p>
            <a:p>
              <a:pPr algn="ctr">
                <a:lnSpc>
                  <a:spcPts val="3329"/>
                </a:lnSpc>
              </a:pPr>
              <a:r>
                <a:rPr lang="en-US" sz="2774" b="1" spc="21" dirty="0">
                  <a:solidFill>
                    <a:srgbClr val="78206E"/>
                  </a:solidFill>
                  <a:latin typeface="TT Phobos Bold"/>
                  <a:ea typeface="TT Phobos Bold"/>
                  <a:cs typeface="TT Phobos Bold"/>
                  <a:sym typeface="TT Phobos Bold"/>
                </a:rPr>
                <a:t>Department of Computer Science &amp; Business Systems</a:t>
              </a:r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2271252" y="2019300"/>
            <a:ext cx="6872748" cy="51296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049"/>
              </a:lnSpc>
            </a:pPr>
            <a:r>
              <a:rPr lang="en-US" sz="3374" b="1" dirty="0">
                <a:solidFill>
                  <a:srgbClr val="FF0000"/>
                </a:solidFill>
                <a:latin typeface="Aptos Bold"/>
                <a:ea typeface="Aptos Bold"/>
                <a:cs typeface="Aptos Bold"/>
                <a:sym typeface="Aptos Bold"/>
              </a:rPr>
              <a:t>Performance Analysis: Gas Cost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9777ED8B-DD27-56F0-FD5D-6D1F2FC9E7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9178982"/>
              </p:ext>
            </p:extLst>
          </p:nvPr>
        </p:nvGraphicFramePr>
        <p:xfrm>
          <a:off x="990600" y="2814916"/>
          <a:ext cx="16687800" cy="6900584"/>
        </p:xfrm>
        <a:graphic>
          <a:graphicData uri="http://schemas.openxmlformats.org/drawingml/2006/table">
            <a:tbl>
              <a:tblPr/>
              <a:tblGrid>
                <a:gridCol w="1143000">
                  <a:extLst>
                    <a:ext uri="{9D8B030D-6E8A-4147-A177-3AD203B41FA5}">
                      <a16:colId xmlns:a16="http://schemas.microsoft.com/office/drawing/2014/main" val="3476361792"/>
                    </a:ext>
                  </a:extLst>
                </a:gridCol>
                <a:gridCol w="3429000">
                  <a:extLst>
                    <a:ext uri="{9D8B030D-6E8A-4147-A177-3AD203B41FA5}">
                      <a16:colId xmlns:a16="http://schemas.microsoft.com/office/drawing/2014/main" val="2348339681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1908958629"/>
                    </a:ext>
                  </a:extLst>
                </a:gridCol>
                <a:gridCol w="3276600">
                  <a:extLst>
                    <a:ext uri="{9D8B030D-6E8A-4147-A177-3AD203B41FA5}">
                      <a16:colId xmlns:a16="http://schemas.microsoft.com/office/drawing/2014/main" val="2190486652"/>
                    </a:ext>
                  </a:extLst>
                </a:gridCol>
                <a:gridCol w="3009900">
                  <a:extLst>
                    <a:ext uri="{9D8B030D-6E8A-4147-A177-3AD203B41FA5}">
                      <a16:colId xmlns:a16="http://schemas.microsoft.com/office/drawing/2014/main" val="3419560505"/>
                    </a:ext>
                  </a:extLst>
                </a:gridCol>
                <a:gridCol w="2781300">
                  <a:extLst>
                    <a:ext uri="{9D8B030D-6E8A-4147-A177-3AD203B41FA5}">
                      <a16:colId xmlns:a16="http://schemas.microsoft.com/office/drawing/2014/main" val="3203967619"/>
                    </a:ext>
                  </a:extLst>
                </a:gridCol>
              </a:tblGrid>
              <a:tr h="7845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 No.</a:t>
                      </a:r>
                    </a:p>
                  </a:txBody>
                  <a:tcPr marL="35085" marR="35085" marT="17542" marB="175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Contract Operation</a:t>
                      </a:r>
                    </a:p>
                  </a:txBody>
                  <a:tcPr marL="35085" marR="35085" marT="17542" marB="175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Gas Used</a:t>
                      </a:r>
                    </a:p>
                  </a:txBody>
                  <a:tcPr marL="35085" marR="35085" marT="17542" marB="175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Cost (ETH)</a:t>
                      </a:r>
                    </a:p>
                  </a:txBody>
                  <a:tcPr marL="35085" marR="35085" marT="17542" marB="175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Cost (USD)</a:t>
                      </a:r>
                    </a:p>
                  </a:txBody>
                  <a:tcPr marL="35085" marR="35085" marT="17542" marB="175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Frequency</a:t>
                      </a:r>
                    </a:p>
                  </a:txBody>
                  <a:tcPr marL="35085" marR="35085" marT="17542" marB="175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942575"/>
                  </a:ext>
                </a:extLst>
              </a:tr>
              <a:tr h="79347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35085" marR="35085" marT="17542" marB="175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i-FI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Contract deployment</a:t>
                      </a:r>
                    </a:p>
                  </a:txBody>
                  <a:tcPr marL="35085" marR="35085" marT="17542" marB="175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3,780,959</a:t>
                      </a:r>
                    </a:p>
                  </a:txBody>
                  <a:tcPr marL="35085" marR="35085" marT="17542" marB="175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0.075619</a:t>
                      </a:r>
                    </a:p>
                  </a:txBody>
                  <a:tcPr marL="35085" marR="35085" marT="17542" marB="175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226.86</a:t>
                      </a:r>
                    </a:p>
                  </a:txBody>
                  <a:tcPr marL="35085" marR="35085" marT="17542" marB="175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One time</a:t>
                      </a:r>
                    </a:p>
                  </a:txBody>
                  <a:tcPr marL="35085" marR="35085" marT="17542" marB="175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94692900"/>
                  </a:ext>
                </a:extLst>
              </a:tr>
              <a:tr h="79347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35085" marR="35085" marT="17542" marB="175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i-FI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registerPatient</a:t>
                      </a:r>
                    </a:p>
                  </a:txBody>
                  <a:tcPr marL="35085" marR="35085" marT="17542" marB="175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186,023</a:t>
                      </a:r>
                    </a:p>
                  </a:txBody>
                  <a:tcPr marL="35085" marR="35085" marT="17542" marB="175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0.003720</a:t>
                      </a:r>
                    </a:p>
                  </a:txBody>
                  <a:tcPr marL="35085" marR="35085" marT="17542" marB="175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11.16</a:t>
                      </a:r>
                    </a:p>
                  </a:txBody>
                  <a:tcPr marL="35085" marR="35085" marT="17542" marB="175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Per patient</a:t>
                      </a:r>
                    </a:p>
                  </a:txBody>
                  <a:tcPr marL="35085" marR="35085" marT="17542" marB="175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3667544"/>
                  </a:ext>
                </a:extLst>
              </a:tr>
              <a:tr h="79347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35085" marR="35085" marT="17542" marB="175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registerDoctor</a:t>
                      </a:r>
                    </a:p>
                  </a:txBody>
                  <a:tcPr marL="35085" marR="35085" marT="17542" marB="175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230,839</a:t>
                      </a:r>
                    </a:p>
                  </a:txBody>
                  <a:tcPr marL="35085" marR="35085" marT="17542" marB="175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0.004617</a:t>
                      </a:r>
                    </a:p>
                  </a:txBody>
                  <a:tcPr marL="35085" marR="35085" marT="17542" marB="175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13.85</a:t>
                      </a:r>
                    </a:p>
                  </a:txBody>
                  <a:tcPr marL="35085" marR="35085" marT="17542" marB="175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Per doctor</a:t>
                      </a:r>
                    </a:p>
                  </a:txBody>
                  <a:tcPr marL="35085" marR="35085" marT="17542" marB="175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76141070"/>
                  </a:ext>
                </a:extLst>
              </a:tr>
              <a:tr h="79347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35085" marR="35085" marT="17542" marB="175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uploadRecord</a:t>
                      </a:r>
                    </a:p>
                  </a:txBody>
                  <a:tcPr marL="35085" marR="35085" marT="17542" marB="175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367,574</a:t>
                      </a:r>
                    </a:p>
                  </a:txBody>
                  <a:tcPr marL="35085" marR="35085" marT="17542" marB="175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0.007351</a:t>
                      </a:r>
                    </a:p>
                  </a:txBody>
                  <a:tcPr marL="35085" marR="35085" marT="17542" marB="175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22.05</a:t>
                      </a:r>
                    </a:p>
                  </a:txBody>
                  <a:tcPr marL="35085" marR="35085" marT="17542" marB="175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Per record</a:t>
                      </a:r>
                    </a:p>
                  </a:txBody>
                  <a:tcPr marL="35085" marR="35085" marT="17542" marB="175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63605314"/>
                  </a:ext>
                </a:extLst>
              </a:tr>
              <a:tr h="79347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35085" marR="35085" marT="17542" marB="175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requestAccess</a:t>
                      </a:r>
                    </a:p>
                  </a:txBody>
                  <a:tcPr marL="35085" marR="35085" marT="17542" marB="175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279,970</a:t>
                      </a:r>
                    </a:p>
                  </a:txBody>
                  <a:tcPr marL="35085" marR="35085" marT="17542" marB="175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0.005599</a:t>
                      </a:r>
                    </a:p>
                  </a:txBody>
                  <a:tcPr marL="35085" marR="35085" marT="17542" marB="175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16.80</a:t>
                      </a:r>
                    </a:p>
                  </a:txBody>
                  <a:tcPr marL="35085" marR="35085" marT="17542" marB="175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Per request</a:t>
                      </a:r>
                    </a:p>
                  </a:txBody>
                  <a:tcPr marL="35085" marR="35085" marT="17542" marB="175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7827041"/>
                  </a:ext>
                </a:extLst>
              </a:tr>
              <a:tr h="79347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 marL="35085" marR="35085" marT="17542" marB="175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approveRequest</a:t>
                      </a:r>
                    </a:p>
                  </a:txBody>
                  <a:tcPr marL="35085" marR="35085" marT="17542" marB="175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149,465</a:t>
                      </a:r>
                    </a:p>
                  </a:txBody>
                  <a:tcPr marL="35085" marR="35085" marT="17542" marB="175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0.002989</a:t>
                      </a:r>
                    </a:p>
                  </a:txBody>
                  <a:tcPr marL="35085" marR="35085" marT="17542" marB="175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8.97</a:t>
                      </a:r>
                    </a:p>
                  </a:txBody>
                  <a:tcPr marL="35085" marR="35085" marT="17542" marB="175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Per approval</a:t>
                      </a:r>
                    </a:p>
                  </a:txBody>
                  <a:tcPr marL="35085" marR="35085" marT="17542" marB="175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78344209"/>
                  </a:ext>
                </a:extLst>
              </a:tr>
              <a:tr h="79347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</a:p>
                  </a:txBody>
                  <a:tcPr marL="35085" marR="35085" marT="17542" marB="175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revokeAccess</a:t>
                      </a:r>
                    </a:p>
                  </a:txBody>
                  <a:tcPr marL="35085" marR="35085" marT="17542" marB="175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46,148</a:t>
                      </a:r>
                    </a:p>
                  </a:txBody>
                  <a:tcPr marL="35085" marR="35085" marT="17542" marB="175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0.000923</a:t>
                      </a:r>
                    </a:p>
                  </a:txBody>
                  <a:tcPr marL="35085" marR="35085" marT="17542" marB="175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2.77</a:t>
                      </a:r>
                    </a:p>
                  </a:txBody>
                  <a:tcPr marL="35085" marR="35085" marT="17542" marB="175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Per revocation</a:t>
                      </a:r>
                    </a:p>
                  </a:txBody>
                  <a:tcPr marL="35085" marR="35085" marT="17542" marB="175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7244215"/>
                  </a:ext>
                </a:extLst>
              </a:tr>
              <a:tr h="56173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</a:p>
                  </a:txBody>
                  <a:tcPr marL="35085" marR="35085" marT="17542" marB="175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logRecordAccess</a:t>
                      </a:r>
                    </a:p>
                  </a:txBody>
                  <a:tcPr marL="35085" marR="35085" marT="17542" marB="175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30,732</a:t>
                      </a:r>
                    </a:p>
                  </a:txBody>
                  <a:tcPr marL="35085" marR="35085" marT="17542" marB="175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0.000615</a:t>
                      </a:r>
                    </a:p>
                  </a:txBody>
                  <a:tcPr marL="35085" marR="35085" marT="17542" marB="175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1.84</a:t>
                      </a:r>
                    </a:p>
                  </a:txBody>
                  <a:tcPr marL="35085" marR="35085" marT="17542" marB="175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Per record read</a:t>
                      </a:r>
                    </a:p>
                  </a:txBody>
                  <a:tcPr marL="35085" marR="35085" marT="17542" marB="175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2360599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271252" y="238114"/>
            <a:ext cx="1371600" cy="1498478"/>
            <a:chOff x="0" y="0"/>
            <a:chExt cx="1300480" cy="1420780"/>
          </a:xfrm>
        </p:grpSpPr>
        <p:sp>
          <p:nvSpPr>
            <p:cNvPr id="3" name="Freeform 3" descr="Dr Shivabasava swamiji.jpg"/>
            <p:cNvSpPr/>
            <p:nvPr/>
          </p:nvSpPr>
          <p:spPr>
            <a:xfrm>
              <a:off x="0" y="0"/>
              <a:ext cx="1300480" cy="1420830"/>
            </a:xfrm>
            <a:custGeom>
              <a:avLst/>
              <a:gdLst/>
              <a:ahLst/>
              <a:cxnLst/>
              <a:rect l="l" t="t" r="r" b="b"/>
              <a:pathLst>
                <a:path w="1300480" h="1420830">
                  <a:moveTo>
                    <a:pt x="0" y="0"/>
                  </a:moveTo>
                  <a:lnTo>
                    <a:pt x="1300480" y="0"/>
                  </a:lnTo>
                  <a:lnTo>
                    <a:pt x="1300480" y="1420830"/>
                  </a:lnTo>
                  <a:lnTo>
                    <a:pt x="0" y="14208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2215" b="-2211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4630395" y="243980"/>
            <a:ext cx="1227810" cy="1322255"/>
            <a:chOff x="0" y="0"/>
            <a:chExt cx="1164146" cy="1253693"/>
          </a:xfrm>
        </p:grpSpPr>
        <p:sp>
          <p:nvSpPr>
            <p:cNvPr id="5" name="Freeform 5" descr="sgbit logo.jpg"/>
            <p:cNvSpPr/>
            <p:nvPr/>
          </p:nvSpPr>
          <p:spPr>
            <a:xfrm>
              <a:off x="0" y="0"/>
              <a:ext cx="1164082" cy="1253744"/>
            </a:xfrm>
            <a:custGeom>
              <a:avLst/>
              <a:gdLst/>
              <a:ahLst/>
              <a:cxnLst/>
              <a:rect l="l" t="t" r="r" b="b"/>
              <a:pathLst>
                <a:path w="1164082" h="1253744">
                  <a:moveTo>
                    <a:pt x="0" y="0"/>
                  </a:moveTo>
                  <a:lnTo>
                    <a:pt x="1164082" y="0"/>
                  </a:lnTo>
                  <a:lnTo>
                    <a:pt x="1164082" y="1253744"/>
                  </a:lnTo>
                  <a:lnTo>
                    <a:pt x="0" y="12537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3846" r="-3851" b="4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3657600" y="0"/>
            <a:ext cx="10744201" cy="1508082"/>
            <a:chOff x="0" y="0"/>
            <a:chExt cx="10187094" cy="142988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0187094" cy="1235009"/>
            </a:xfrm>
            <a:custGeom>
              <a:avLst/>
              <a:gdLst/>
              <a:ahLst/>
              <a:cxnLst/>
              <a:rect l="l" t="t" r="r" b="b"/>
              <a:pathLst>
                <a:path w="10187094" h="1235009">
                  <a:moveTo>
                    <a:pt x="0" y="0"/>
                  </a:moveTo>
                  <a:lnTo>
                    <a:pt x="10187094" y="0"/>
                  </a:lnTo>
                  <a:lnTo>
                    <a:pt x="10187094" y="1235009"/>
                  </a:lnTo>
                  <a:lnTo>
                    <a:pt x="0" y="123500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10724" b="-110723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5" y="194881"/>
              <a:ext cx="10187089" cy="123500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329"/>
                </a:lnSpc>
              </a:pPr>
              <a:r>
                <a:rPr lang="en-US" sz="2774" b="1" spc="21" dirty="0">
                  <a:solidFill>
                    <a:srgbClr val="78206E"/>
                  </a:solidFill>
                  <a:latin typeface="TT Phobos Bold"/>
                  <a:ea typeface="TT Phobos Bold"/>
                  <a:cs typeface="TT Phobos Bold"/>
                  <a:sym typeface="TT Phobos Bold"/>
                </a:rPr>
                <a:t>SSET’s, S.G.Balekundri Institute of Technology, Belagavi, </a:t>
              </a:r>
            </a:p>
            <a:p>
              <a:pPr algn="ctr">
                <a:lnSpc>
                  <a:spcPts val="3329"/>
                </a:lnSpc>
              </a:pPr>
              <a:r>
                <a:rPr lang="en-US" sz="2774" b="1" spc="21" dirty="0">
                  <a:solidFill>
                    <a:srgbClr val="78206E"/>
                  </a:solidFill>
                  <a:latin typeface="TT Phobos Bold"/>
                  <a:ea typeface="TT Phobos Bold"/>
                  <a:cs typeface="TT Phobos Bold"/>
                  <a:sym typeface="TT Phobos Bold"/>
                </a:rPr>
                <a:t>Department of Computer Science &amp; Business Systems</a:t>
              </a:r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2271252" y="1866900"/>
            <a:ext cx="7329948" cy="51296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049"/>
              </a:lnSpc>
            </a:pPr>
            <a:r>
              <a:rPr lang="en-US" sz="3374" b="1" dirty="0">
                <a:solidFill>
                  <a:srgbClr val="FF0000"/>
                </a:solidFill>
                <a:latin typeface="Aptos Bold"/>
                <a:ea typeface="Aptos Bold"/>
                <a:cs typeface="Aptos Bold"/>
                <a:sym typeface="Aptos Bold"/>
              </a:rPr>
              <a:t>Performance Analysis: Encryption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9777ED8B-DD27-56F0-FD5D-6D1F2FC9E7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1500081"/>
              </p:ext>
            </p:extLst>
          </p:nvPr>
        </p:nvGraphicFramePr>
        <p:xfrm>
          <a:off x="914400" y="2743200"/>
          <a:ext cx="16687800" cy="7236284"/>
        </p:xfrm>
        <a:graphic>
          <a:graphicData uri="http://schemas.openxmlformats.org/drawingml/2006/table">
            <a:tbl>
              <a:tblPr/>
              <a:tblGrid>
                <a:gridCol w="1143000">
                  <a:extLst>
                    <a:ext uri="{9D8B030D-6E8A-4147-A177-3AD203B41FA5}">
                      <a16:colId xmlns:a16="http://schemas.microsoft.com/office/drawing/2014/main" val="3476361792"/>
                    </a:ext>
                  </a:extLst>
                </a:gridCol>
                <a:gridCol w="3429000">
                  <a:extLst>
                    <a:ext uri="{9D8B030D-6E8A-4147-A177-3AD203B41FA5}">
                      <a16:colId xmlns:a16="http://schemas.microsoft.com/office/drawing/2014/main" val="2348339681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1908958629"/>
                    </a:ext>
                  </a:extLst>
                </a:gridCol>
                <a:gridCol w="3276600">
                  <a:extLst>
                    <a:ext uri="{9D8B030D-6E8A-4147-A177-3AD203B41FA5}">
                      <a16:colId xmlns:a16="http://schemas.microsoft.com/office/drawing/2014/main" val="2190486652"/>
                    </a:ext>
                  </a:extLst>
                </a:gridCol>
                <a:gridCol w="3009900">
                  <a:extLst>
                    <a:ext uri="{9D8B030D-6E8A-4147-A177-3AD203B41FA5}">
                      <a16:colId xmlns:a16="http://schemas.microsoft.com/office/drawing/2014/main" val="3419560505"/>
                    </a:ext>
                  </a:extLst>
                </a:gridCol>
                <a:gridCol w="2781300">
                  <a:extLst>
                    <a:ext uri="{9D8B030D-6E8A-4147-A177-3AD203B41FA5}">
                      <a16:colId xmlns:a16="http://schemas.microsoft.com/office/drawing/2014/main" val="3203967619"/>
                    </a:ext>
                  </a:extLst>
                </a:gridCol>
              </a:tblGrid>
              <a:tr h="7845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File Size</a:t>
                      </a:r>
                    </a:p>
                  </a:txBody>
                  <a:tcPr marL="35085" marR="35085" marT="17542" marB="175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AES Encrypt (ms)</a:t>
                      </a:r>
                    </a:p>
                  </a:txBody>
                  <a:tcPr marL="35085" marR="35085" marT="17542" marB="175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AES Speed (MB/s)</a:t>
                      </a:r>
                    </a:p>
                  </a:txBody>
                  <a:tcPr marL="35085" marR="35085" marT="17542" marB="175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keccak256 (ms)</a:t>
                      </a:r>
                    </a:p>
                  </a:txBody>
                  <a:tcPr marL="35085" marR="35085" marT="17542" marB="175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Hash Speed (MB/s)</a:t>
                      </a:r>
                    </a:p>
                  </a:txBody>
                  <a:tcPr marL="35085" marR="35085" marT="17542" marB="175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 (ms)</a:t>
                      </a:r>
                    </a:p>
                  </a:txBody>
                  <a:tcPr marL="35085" marR="35085" marT="17542" marB="175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942575"/>
                  </a:ext>
                </a:extLst>
              </a:tr>
              <a:tr h="12695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 KB</a:t>
                      </a:r>
                    </a:p>
                  </a:txBody>
                  <a:tcPr marL="35085" marR="35085" marT="17542" marB="175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i-FI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0.3</a:t>
                      </a:r>
                    </a:p>
                  </a:txBody>
                  <a:tcPr marL="35085" marR="35085" marT="17542" marB="175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293</a:t>
                      </a:r>
                    </a:p>
                  </a:txBody>
                  <a:tcPr marL="35085" marR="35085" marT="17542" marB="175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8.5</a:t>
                      </a:r>
                    </a:p>
                  </a:txBody>
                  <a:tcPr marL="35085" marR="35085" marT="17542" marB="175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</a:p>
                  </a:txBody>
                  <a:tcPr marL="35085" marR="35085" marT="17542" marB="175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10.2</a:t>
                      </a:r>
                    </a:p>
                  </a:txBody>
                  <a:tcPr marL="35085" marR="35085" marT="17542" marB="175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94692900"/>
                  </a:ext>
                </a:extLst>
              </a:tr>
              <a:tr h="12695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500 KB</a:t>
                      </a:r>
                    </a:p>
                  </a:txBody>
                  <a:tcPr marL="35085" marR="35085" marT="17542" marB="175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i-FI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0.6</a:t>
                      </a:r>
                    </a:p>
                  </a:txBody>
                  <a:tcPr marL="35085" marR="35085" marT="17542" marB="175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777</a:t>
                      </a:r>
                    </a:p>
                  </a:txBody>
                  <a:tcPr marL="35085" marR="35085" marT="17542" marB="175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39.3</a:t>
                      </a:r>
                    </a:p>
                  </a:txBody>
                  <a:tcPr marL="35085" marR="35085" marT="17542" marB="175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</a:p>
                  </a:txBody>
                  <a:tcPr marL="35085" marR="35085" marT="17542" marB="175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41.6</a:t>
                      </a:r>
                    </a:p>
                  </a:txBody>
                  <a:tcPr marL="35085" marR="35085" marT="17542" marB="175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3667544"/>
                  </a:ext>
                </a:extLst>
              </a:tr>
              <a:tr h="12695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 MB</a:t>
                      </a:r>
                    </a:p>
                  </a:txBody>
                  <a:tcPr marL="35085" marR="35085" marT="17542" marB="175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dirty="0"/>
                        <a:t>1.6</a:t>
                      </a:r>
                    </a:p>
                  </a:txBody>
                  <a:tcPr marL="35085" marR="35085" marT="17542" marB="175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643</a:t>
                      </a:r>
                    </a:p>
                  </a:txBody>
                  <a:tcPr marL="35085" marR="35085" marT="17542" marB="175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95.3</a:t>
                      </a:r>
                    </a:p>
                  </a:txBody>
                  <a:tcPr marL="35085" marR="35085" marT="17542" marB="175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</a:p>
                  </a:txBody>
                  <a:tcPr marL="35085" marR="35085" marT="17542" marB="175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100.2</a:t>
                      </a:r>
                    </a:p>
                  </a:txBody>
                  <a:tcPr marL="35085" marR="35085" marT="17542" marB="175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76141070"/>
                  </a:ext>
                </a:extLst>
              </a:tr>
              <a:tr h="12695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 MB</a:t>
                      </a:r>
                    </a:p>
                  </a:txBody>
                  <a:tcPr marL="35085" marR="35085" marT="17542" marB="175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dirty="0"/>
                        <a:t>9.1</a:t>
                      </a:r>
                    </a:p>
                  </a:txBody>
                  <a:tcPr marL="35085" marR="35085" marT="17542" marB="175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550</a:t>
                      </a:r>
                    </a:p>
                  </a:txBody>
                  <a:tcPr marL="35085" marR="35085" marT="17542" marB="175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554.9</a:t>
                      </a:r>
                    </a:p>
                  </a:txBody>
                  <a:tcPr marL="35085" marR="35085" marT="17542" marB="175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</a:p>
                  </a:txBody>
                  <a:tcPr marL="35085" marR="35085" marT="17542" marB="175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525.0</a:t>
                      </a:r>
                    </a:p>
                  </a:txBody>
                  <a:tcPr marL="35085" marR="35085" marT="17542" marB="175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0066635"/>
                  </a:ext>
                </a:extLst>
              </a:tr>
              <a:tr h="12695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 MB</a:t>
                      </a:r>
                    </a:p>
                  </a:txBody>
                  <a:tcPr marL="35085" marR="35085" marT="17542" marB="175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dirty="0"/>
                        <a:t>13.9</a:t>
                      </a:r>
                    </a:p>
                  </a:txBody>
                  <a:tcPr marL="35085" marR="35085" marT="17542" marB="175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721</a:t>
                      </a:r>
                    </a:p>
                  </a:txBody>
                  <a:tcPr marL="35085" marR="35085" marT="17542" marB="175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1049.8</a:t>
                      </a:r>
                    </a:p>
                  </a:txBody>
                  <a:tcPr marL="35085" marR="35085" marT="17542" marB="175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</a:p>
                  </a:txBody>
                  <a:tcPr marL="35085" marR="35085" marT="17542" marB="175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1195.1</a:t>
                      </a:r>
                    </a:p>
                  </a:txBody>
                  <a:tcPr marL="35085" marR="35085" marT="17542" marB="175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457999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2352084" y="2172202"/>
            <a:ext cx="8163516" cy="6903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453"/>
              </a:lnSpc>
            </a:pPr>
            <a:r>
              <a:rPr lang="en-US" sz="4544" b="1" dirty="0">
                <a:solidFill>
                  <a:srgbClr val="FF0000"/>
                </a:solidFill>
                <a:latin typeface="Aptos Bold"/>
                <a:ea typeface="Aptos Bold"/>
                <a:cs typeface="Aptos Bold"/>
                <a:sym typeface="Aptos Bold"/>
              </a:rPr>
              <a:t>Conclusion &amp; Future Scope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2271255" y="176276"/>
            <a:ext cx="1371600" cy="1498478"/>
            <a:chOff x="0" y="0"/>
            <a:chExt cx="1300480" cy="1420780"/>
          </a:xfrm>
        </p:grpSpPr>
        <p:sp>
          <p:nvSpPr>
            <p:cNvPr id="5" name="Freeform 5" descr="Dr Shivabasava swamiji.jpg"/>
            <p:cNvSpPr/>
            <p:nvPr/>
          </p:nvSpPr>
          <p:spPr>
            <a:xfrm>
              <a:off x="0" y="0"/>
              <a:ext cx="1300480" cy="1420830"/>
            </a:xfrm>
            <a:custGeom>
              <a:avLst/>
              <a:gdLst/>
              <a:ahLst/>
              <a:cxnLst/>
              <a:rect l="l" t="t" r="r" b="b"/>
              <a:pathLst>
                <a:path w="1300480" h="1420830">
                  <a:moveTo>
                    <a:pt x="0" y="0"/>
                  </a:moveTo>
                  <a:lnTo>
                    <a:pt x="1300480" y="0"/>
                  </a:lnTo>
                  <a:lnTo>
                    <a:pt x="1300480" y="1420830"/>
                  </a:lnTo>
                  <a:lnTo>
                    <a:pt x="0" y="14208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2215" b="-2211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3657600" y="0"/>
            <a:ext cx="10843750" cy="1637034"/>
            <a:chOff x="0" y="0"/>
            <a:chExt cx="10281481" cy="1552151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0187094" cy="1235009"/>
            </a:xfrm>
            <a:custGeom>
              <a:avLst/>
              <a:gdLst/>
              <a:ahLst/>
              <a:cxnLst/>
              <a:rect l="l" t="t" r="r" b="b"/>
              <a:pathLst>
                <a:path w="10187094" h="1235009">
                  <a:moveTo>
                    <a:pt x="0" y="0"/>
                  </a:moveTo>
                  <a:lnTo>
                    <a:pt x="10187094" y="0"/>
                  </a:lnTo>
                  <a:lnTo>
                    <a:pt x="10187094" y="1235009"/>
                  </a:lnTo>
                  <a:lnTo>
                    <a:pt x="0" y="123500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10724" b="-110723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94392" y="317147"/>
              <a:ext cx="10187089" cy="123500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329"/>
                </a:lnSpc>
              </a:pPr>
              <a:r>
                <a:rPr lang="en-US" sz="2774" b="1" spc="21" dirty="0">
                  <a:solidFill>
                    <a:srgbClr val="78206E"/>
                  </a:solidFill>
                  <a:latin typeface="TT Phobos Bold"/>
                  <a:ea typeface="TT Phobos Bold"/>
                  <a:cs typeface="TT Phobos Bold"/>
                  <a:sym typeface="TT Phobos Bold"/>
                </a:rPr>
                <a:t>SSET’s, S.G.Balekundri Institute of Technology, Belagavi, </a:t>
              </a:r>
            </a:p>
            <a:p>
              <a:pPr algn="ctr">
                <a:lnSpc>
                  <a:spcPts val="3329"/>
                </a:lnSpc>
              </a:pPr>
              <a:r>
                <a:rPr lang="en-US" sz="2774" b="1" spc="21" dirty="0">
                  <a:solidFill>
                    <a:srgbClr val="78206E"/>
                  </a:solidFill>
                  <a:latin typeface="TT Phobos Bold"/>
                  <a:ea typeface="TT Phobos Bold"/>
                  <a:cs typeface="TT Phobos Bold"/>
                  <a:sym typeface="TT Phobos Bold"/>
                </a:rPr>
                <a:t>Department of Computer Science &amp; Business Systems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4630400" y="176276"/>
            <a:ext cx="1227810" cy="1322255"/>
            <a:chOff x="0" y="0"/>
            <a:chExt cx="1164146" cy="1253693"/>
          </a:xfrm>
        </p:grpSpPr>
        <p:sp>
          <p:nvSpPr>
            <p:cNvPr id="10" name="Freeform 10" descr="sgbit logo.jpg"/>
            <p:cNvSpPr/>
            <p:nvPr/>
          </p:nvSpPr>
          <p:spPr>
            <a:xfrm>
              <a:off x="0" y="0"/>
              <a:ext cx="1164082" cy="1253744"/>
            </a:xfrm>
            <a:custGeom>
              <a:avLst/>
              <a:gdLst/>
              <a:ahLst/>
              <a:cxnLst/>
              <a:rect l="l" t="t" r="r" b="b"/>
              <a:pathLst>
                <a:path w="1164082" h="1253744">
                  <a:moveTo>
                    <a:pt x="0" y="0"/>
                  </a:moveTo>
                  <a:lnTo>
                    <a:pt x="1164082" y="0"/>
                  </a:lnTo>
                  <a:lnTo>
                    <a:pt x="1164082" y="1253744"/>
                  </a:lnTo>
                  <a:lnTo>
                    <a:pt x="0" y="12537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3846" r="-3851" b="4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37E867CD-B18E-8ABA-0A9E-D9B3C562B0E4}"/>
              </a:ext>
            </a:extLst>
          </p:cNvPr>
          <p:cNvSpPr txBox="1"/>
          <p:nvPr/>
        </p:nvSpPr>
        <p:spPr>
          <a:xfrm>
            <a:off x="1667967" y="3162300"/>
            <a:ext cx="13576304" cy="58318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demonstrates that blockchain and client-side encryption together can deliver medical records that are confidential, tamper-evident and genuinely patient-controlled.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Storing only a hash on-chain keeps the cost constant at 249 bytes per record regardless of file size, making the design scalable for real clinical data.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Scope: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recovery through social recovery or threshold secret sharing.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Reducing on-chain metadata leakage using zero-knowledge proofs.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Controlled emergency access for unconscious patients.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Integration with hospital information systems and a progressive web app for mobile.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700337" y="3872620"/>
            <a:ext cx="9980141" cy="15746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342"/>
              </a:lnSpc>
            </a:pPr>
            <a:r>
              <a:rPr lang="en-US" sz="10285" b="1">
                <a:solidFill>
                  <a:srgbClr val="FF0000"/>
                </a:solidFill>
                <a:latin typeface="Aptos Bold"/>
                <a:ea typeface="Aptos Bold"/>
                <a:cs typeface="Aptos Bold"/>
                <a:sym typeface="Aptos Bold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1271</TotalTime>
  <Words>1931</Words>
  <Application>Microsoft Office PowerPoint</Application>
  <PresentationFormat>Custom</PresentationFormat>
  <Paragraphs>261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TT Phobos Bold</vt:lpstr>
      <vt:lpstr>Aptos Bold</vt:lpstr>
      <vt:lpstr>Arial</vt:lpstr>
      <vt:lpstr>Times New Roman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Lifelink</dc:title>
  <dc:creator>YASH</dc:creator>
  <cp:lastModifiedBy>sahil yadawad</cp:lastModifiedBy>
  <cp:revision>32</cp:revision>
  <dcterms:created xsi:type="dcterms:W3CDTF">2006-08-16T00:00:00Z</dcterms:created>
  <dcterms:modified xsi:type="dcterms:W3CDTF">2026-08-22T03:31:50Z</dcterms:modified>
  <dc:identifier>DAHEN2xbJV8</dc:identifier>
</cp:coreProperties>
</file>